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3c2436e5de4dff" /><Relationship Type="http://schemas.openxmlformats.org/officeDocument/2006/relationships/extended-properties" Target="/docProps/app.xml" Id="Rf0938cd2610e4a66" /><Relationship Type="http://schemas.openxmlformats.org/officeDocument/2006/relationships/officeDocument" Target="/ppt/presentation.xml" Id="R3bf30cfc0e1842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f817db3e3b482f"/>
  </p:sldMasterIdLst>
  <p:notesMasterIdLst>
    <p:notesMasterId xmlns:r="http://schemas.openxmlformats.org/officeDocument/2006/relationships" r:id="R84e5c662bbdf44ef"/>
  </p:notesMasterIdLst>
  <p:sldIdLst>
    <p:sldId xmlns:r="http://schemas.openxmlformats.org/officeDocument/2006/relationships" id="256" r:id="Ree6abbca64064d1d"/>
    <p:sldId xmlns:r="http://schemas.openxmlformats.org/officeDocument/2006/relationships" id="257" r:id="R06295d7fdb6b4ba2"/>
    <p:sldId xmlns:r="http://schemas.openxmlformats.org/officeDocument/2006/relationships" id="258" r:id="Rd520376372c74709"/>
    <p:sldId xmlns:r="http://schemas.openxmlformats.org/officeDocument/2006/relationships" id="259" r:id="Rf089a78a87fb463c"/>
    <p:sldId xmlns:r="http://schemas.openxmlformats.org/officeDocument/2006/relationships" id="260" r:id="Rbeb748c6490542e4"/>
    <p:sldId xmlns:r="http://schemas.openxmlformats.org/officeDocument/2006/relationships" id="261" r:id="R8d723c803ab8481f"/>
    <p:sldId xmlns:r="http://schemas.openxmlformats.org/officeDocument/2006/relationships" id="262" r:id="R6ebb44bfbe244689"/>
    <p:sldId xmlns:r="http://schemas.openxmlformats.org/officeDocument/2006/relationships" id="263" r:id="R648ac526775e4eed"/>
    <p:sldId xmlns:r="http://schemas.openxmlformats.org/officeDocument/2006/relationships" id="264" r:id="R4a1ad1cca5c74f34"/>
    <p:sldId xmlns:r="http://schemas.openxmlformats.org/officeDocument/2006/relationships" id="265" r:id="R3cd5830ea9aa463c"/>
    <p:sldId xmlns:r="http://schemas.openxmlformats.org/officeDocument/2006/relationships" id="266" r:id="R5efb4d6612e946b2"/>
    <p:sldId xmlns:r="http://schemas.openxmlformats.org/officeDocument/2006/relationships" id="267" r:id="Rc63570707ad44955"/>
    <p:sldId xmlns:r="http://schemas.openxmlformats.org/officeDocument/2006/relationships" id="268" r:id="R6ffae53dc1ce4a85"/>
    <p:sldId xmlns:r="http://schemas.openxmlformats.org/officeDocument/2006/relationships" id="269" r:id="Rc2f23e0aefed46a2"/>
    <p:sldId xmlns:r="http://schemas.openxmlformats.org/officeDocument/2006/relationships" id="270" r:id="R69af4d096ea143b5"/>
    <p:sldId xmlns:r="http://schemas.openxmlformats.org/officeDocument/2006/relationships" id="271" r:id="Rbd44be43479140c9"/>
    <p:sldId xmlns:r="http://schemas.openxmlformats.org/officeDocument/2006/relationships" id="272" r:id="R874d0c04ca86448a"/>
    <p:sldId xmlns:r="http://schemas.openxmlformats.org/officeDocument/2006/relationships" id="273" r:id="R3283d2e560a14e12"/>
    <p:sldId xmlns:r="http://schemas.openxmlformats.org/officeDocument/2006/relationships" id="274" r:id="R210984965e574408"/>
    <p:sldId xmlns:r="http://schemas.openxmlformats.org/officeDocument/2006/relationships" id="275" r:id="R07bc8f0f42694313"/>
    <p:sldId xmlns:r="http://schemas.openxmlformats.org/officeDocument/2006/relationships" id="276" r:id="Rdbbfa4d5c6db4e5e"/>
    <p:sldId xmlns:r="http://schemas.openxmlformats.org/officeDocument/2006/relationships" id="277" r:id="R636e98c5cb5a46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33328c395d48e4" /><Relationship Type="http://schemas.openxmlformats.org/officeDocument/2006/relationships/slideMaster" Target="/ppt/slideMasters/slideMaster1.xml" Id="Rc7f817db3e3b482f" /><Relationship Type="http://schemas.openxmlformats.org/officeDocument/2006/relationships/notesMaster" Target="/ppt/notesMasters/notesMaster1.xml" Id="R84e5c662bbdf44ef" /><Relationship Type="http://schemas.openxmlformats.org/officeDocument/2006/relationships/presProps" Target="/ppt/presProps.xml" Id="R3315fe9edd7e40d0" /><Relationship Type="http://schemas.openxmlformats.org/officeDocument/2006/relationships/tableStyles" Target="/ppt/tableStyles.xml" Id="R82c57f5de87b47d5" /><Relationship Type="http://schemas.openxmlformats.org/officeDocument/2006/relationships/slide" Target="/ppt/slides/slide1.xml" Id="Ree6abbca64064d1d" /><Relationship Type="http://schemas.openxmlformats.org/officeDocument/2006/relationships/slide" Target="/ppt/slides/slide2.xml" Id="R06295d7fdb6b4ba2" /><Relationship Type="http://schemas.openxmlformats.org/officeDocument/2006/relationships/slide" Target="/ppt/slides/slide3.xml" Id="Rd520376372c74709" /><Relationship Type="http://schemas.openxmlformats.org/officeDocument/2006/relationships/slide" Target="/ppt/slides/slide4.xml" Id="Rf089a78a87fb463c" /><Relationship Type="http://schemas.openxmlformats.org/officeDocument/2006/relationships/slide" Target="/ppt/slides/slide5.xml" Id="Rbeb748c6490542e4" /><Relationship Type="http://schemas.openxmlformats.org/officeDocument/2006/relationships/slide" Target="/ppt/slides/slide6.xml" Id="R8d723c803ab8481f" /><Relationship Type="http://schemas.openxmlformats.org/officeDocument/2006/relationships/slide" Target="/ppt/slides/slide7.xml" Id="R6ebb44bfbe244689" /><Relationship Type="http://schemas.openxmlformats.org/officeDocument/2006/relationships/slide" Target="/ppt/slides/slide8.xml" Id="R648ac526775e4eed" /><Relationship Type="http://schemas.openxmlformats.org/officeDocument/2006/relationships/slide" Target="/ppt/slides/slide9.xml" Id="R4a1ad1cca5c74f34" /><Relationship Type="http://schemas.openxmlformats.org/officeDocument/2006/relationships/slide" Target="/ppt/slides/slide10.xml" Id="R3cd5830ea9aa463c" /><Relationship Type="http://schemas.openxmlformats.org/officeDocument/2006/relationships/slide" Target="/ppt/slides/slide11.xml" Id="R5efb4d6612e946b2" /><Relationship Type="http://schemas.openxmlformats.org/officeDocument/2006/relationships/slide" Target="/ppt/slides/slide12.xml" Id="Rc63570707ad44955" /><Relationship Type="http://schemas.openxmlformats.org/officeDocument/2006/relationships/slide" Target="/ppt/slides/slide13.xml" Id="R6ffae53dc1ce4a85" /><Relationship Type="http://schemas.openxmlformats.org/officeDocument/2006/relationships/slide" Target="/ppt/slides/slide14.xml" Id="Rc2f23e0aefed46a2" /><Relationship Type="http://schemas.openxmlformats.org/officeDocument/2006/relationships/slide" Target="/ppt/slides/slide15.xml" Id="R69af4d096ea143b5" /><Relationship Type="http://schemas.openxmlformats.org/officeDocument/2006/relationships/slide" Target="/ppt/slides/slide16.xml" Id="Rbd44be43479140c9" /><Relationship Type="http://schemas.openxmlformats.org/officeDocument/2006/relationships/slide" Target="/ppt/slides/slide17.xml" Id="R874d0c04ca86448a" /><Relationship Type="http://schemas.openxmlformats.org/officeDocument/2006/relationships/slide" Target="/ppt/slides/slide18.xml" Id="R3283d2e560a14e12" /><Relationship Type="http://schemas.openxmlformats.org/officeDocument/2006/relationships/slide" Target="/ppt/slides/slide19.xml" Id="R210984965e574408" /><Relationship Type="http://schemas.openxmlformats.org/officeDocument/2006/relationships/slide" Target="/ppt/slides/slide20.xml" Id="R07bc8f0f42694313" /><Relationship Type="http://schemas.openxmlformats.org/officeDocument/2006/relationships/slide" Target="/ppt/slides/slide21.xml" Id="Rdbbfa4d5c6db4e5e" /><Relationship Type="http://schemas.openxmlformats.org/officeDocument/2006/relationships/slide" Target="/ppt/slides/slide22.xml" Id="R636e98c5cb5a46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071ca0b6e4c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earl &amp; Gold Corporate">
      <a:dk1>
        <a:srgbClr val="000000"/>
      </a:dk1>
      <a:lt1>
        <a:srgbClr val="FFFFFF"/>
      </a:lt1>
      <a:dk2>
        <a:srgbClr val="2B2724"/>
      </a:dk2>
      <a:lt2>
        <a:srgbClr val="EAE1D7"/>
      </a:lt2>
      <a:accent1>
        <a:srgbClr val="8B6464"/>
      </a:accent1>
      <a:accent2>
        <a:srgbClr val="B79A5A"/>
      </a:accent2>
      <a:accent3>
        <a:srgbClr val="D0A1A1"/>
      </a:accent3>
      <a:accent4>
        <a:srgbClr val="8FA294"/>
      </a:accent4>
      <a:accent5>
        <a:srgbClr val="2B2724"/>
      </a:accent5>
      <a:accent6>
        <a:srgbClr val="D8C59A"/>
      </a:accent6>
      <a:hlink>
        <a:srgbClr val="8B6464"/>
      </a:hlink>
      <a:folHlink>
        <a:srgbClr val="D0A1A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arl &amp; Gold Corpor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058e43088949f0" /><Relationship Type="http://schemas.openxmlformats.org/officeDocument/2006/relationships/notesMaster" Target="/ppt/notesMasters/notesMaster1.xml" Id="R9dfe1710d13f4a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0617c388a147ff" /><Relationship Type="http://schemas.openxmlformats.org/officeDocument/2006/relationships/notesMaster" Target="/ppt/notesMasters/notesMaster1.xml" Id="Rf66f5b866e494e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6f7caeacc94589" /><Relationship Type="http://schemas.openxmlformats.org/officeDocument/2006/relationships/notesMaster" Target="/ppt/notesMasters/notesMaster1.xml" Id="R3cf8278fd3a340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206c417b884295" /><Relationship Type="http://schemas.openxmlformats.org/officeDocument/2006/relationships/notesMaster" Target="/ppt/notesMasters/notesMaster1.xml" Id="R88167800d32c4e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faf48d9a074d79" /><Relationship Type="http://schemas.openxmlformats.org/officeDocument/2006/relationships/notesMaster" Target="/ppt/notesMasters/notesMaster1.xml" Id="R78da2d56264648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1f7c445a874475" /><Relationship Type="http://schemas.openxmlformats.org/officeDocument/2006/relationships/notesMaster" Target="/ppt/notesMasters/notesMaster1.xml" Id="Rcadcec9296294a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b516d1e46f4917" /><Relationship Type="http://schemas.openxmlformats.org/officeDocument/2006/relationships/notesMaster" Target="/ppt/notesMasters/notesMaster1.xml" Id="R3d65925a8e3f4c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bfd47c167f4ce8" /><Relationship Type="http://schemas.openxmlformats.org/officeDocument/2006/relationships/notesMaster" Target="/ppt/notesMasters/notesMaster1.xml" Id="R796b47ecfffd46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0f476dcd2b4784" /><Relationship Type="http://schemas.openxmlformats.org/officeDocument/2006/relationships/notesMaster" Target="/ppt/notesMasters/notesMaster1.xml" Id="R4e3b779d335f43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7cce8d9e1447ee" /><Relationship Type="http://schemas.openxmlformats.org/officeDocument/2006/relationships/notesMaster" Target="/ppt/notesMasters/notesMaster1.xml" Id="Ra0571118d2d546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8a6c00b8b84449" /><Relationship Type="http://schemas.openxmlformats.org/officeDocument/2006/relationships/notesMaster" Target="/ppt/notesMasters/notesMaster1.xml" Id="R2ec2043134a74e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28538670b0451c" /><Relationship Type="http://schemas.openxmlformats.org/officeDocument/2006/relationships/notesMaster" Target="/ppt/notesMasters/notesMaster1.xml" Id="R979fefb1fb1c4c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3e18da80de46e4" /><Relationship Type="http://schemas.openxmlformats.org/officeDocument/2006/relationships/notesMaster" Target="/ppt/notesMasters/notesMaster1.xml" Id="R156efa52f64842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bb5bf83683444b" /><Relationship Type="http://schemas.openxmlformats.org/officeDocument/2006/relationships/notesMaster" Target="/ppt/notesMasters/notesMaster1.xml" Id="Rb3c1c20c1d7e44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21e9c824494cd6" /><Relationship Type="http://schemas.openxmlformats.org/officeDocument/2006/relationships/notesMaster" Target="/ppt/notesMasters/notesMaster1.xml" Id="Rc8b8298fc18a48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53ecd571124bef" /><Relationship Type="http://schemas.openxmlformats.org/officeDocument/2006/relationships/notesMaster" Target="/ppt/notesMasters/notesMaster1.xml" Id="R800b314f6c8245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b27580308a48bb" /><Relationship Type="http://schemas.openxmlformats.org/officeDocument/2006/relationships/notesMaster" Target="/ppt/notesMasters/notesMaster1.xml" Id="Rd6bc52e5311b45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10d96d1694428a" /><Relationship Type="http://schemas.openxmlformats.org/officeDocument/2006/relationships/notesMaster" Target="/ppt/notesMasters/notesMaster1.xml" Id="R51c8bacfb65245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7bdc9fa85a4eed" /><Relationship Type="http://schemas.openxmlformats.org/officeDocument/2006/relationships/notesMaster" Target="/ppt/notesMasters/notesMaster1.xml" Id="Rb29ee99e0e1c4c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d4ffb874154842" /><Relationship Type="http://schemas.openxmlformats.org/officeDocument/2006/relationships/notesMaster" Target="/ppt/notesMasters/notesMaster1.xml" Id="R60b7cf84f6e248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12d38b56264143" /><Relationship Type="http://schemas.openxmlformats.org/officeDocument/2006/relationships/notesMaster" Target="/ppt/notesMasters/notesMaster1.xml" Id="R8fe257e6ce8c479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ed3739ee4946ec" /><Relationship Type="http://schemas.openxmlformats.org/officeDocument/2006/relationships/notesMaster" Target="/ppt/notesMasters/notesMaster1.xml" Id="R5ec299fb7aac46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使用建議：封面只保留題目、部門與日期。若換圖，請讓人物或產品靠右，左側留出標題空間。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用途：統一簡報的色彩、字體與圖片規則。建議保留此頁在模板母檔，對外簡報可刪除。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用途：快速選擇版型。簡報完成後可保留或刪除此索引頁。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使用建議：控制在 4–6 個章節，每一項用動詞或名詞短語，右側補一句目的。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使用建議：章節頁只承擔轉場。標題可為 8–18 字，右側圖片避免過多文字。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使用建議：每欄只放一個結論與一段支持說明。適合高階主管、跨部門會議開場。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使用建議：適合提案轉折、主管金句、研究結論。避免同頁放第二個觀點。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使用建議：文字約占 45%，圖片約占 55%。避免圖片與文字重複說同一件事。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使用建議：滿版圖只用在情緒與轉場，不建議承載大量文字。標題放在低資訊密度區。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使用建議：兩欄必須使用相同的比較維度；不要把一邊寫成優點、另一邊寫成規格。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使用建議：適合策略框架、能力模型、方案構成。三欄文字長度盡量相近。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使用建議：每個 KPI 都要附單位與比較基準。底部用一句話解讀，不要只列數字。示例數字僅為版型展示。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使用建議：折線圖只保留 1–3 條序列。標題直接寫趨勢結論，右側補一項解讀。示例數字僅為版型展示。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使用建議：依數值排序；只強調 1–3 個重點項目。示例數字僅為版型展示。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使用建議：分類不超過 5 個，且總和必須是 100%。示例數字僅為版型展示。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使用建議：欄位控制在 4–6 欄。利用色彩標示建議列，不要每格都上色。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使用建議：步驟以 3–6 個為佳。線先建立順序，節點再放名稱與交付物。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使用建議：每個里程碑必須同時寫日期、事件與完成定義；避免只列活動名稱。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使用建議：橫軸用時間，縱軸用工作流；長條表示期間。每條工作最多一行。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使用建議：兩軸必須具體可衡量，泡泡大小可代表成本、規模或影響人數。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使用建議：上層放決策責任，下層放交付責任。若超過 6 個角色，改用 RACI 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使用建議：每一列都要有動詞、負責人與期限。狀態只使用 3–4 種一致標籤。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editable template content and image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fd0e1940d48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26bd8fa894494c" /><Relationship Type="http://schemas.openxmlformats.org/officeDocument/2006/relationships/slideLayout" Target="/ppt/slideLayouts/slideLayout1.xml" Id="Rc557af06a7c04e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57af06a7c04e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earl &amp; Gold Corporate">
      <a:dk1>
        <a:srgbClr val="000000"/>
      </a:dk1>
      <a:lt1>
        <a:srgbClr val="FFFFFF"/>
      </a:lt1>
      <a:dk2>
        <a:srgbClr val="2B2724"/>
      </a:dk2>
      <a:lt2>
        <a:srgbClr val="EAE1D7"/>
      </a:lt2>
      <a:accent1>
        <a:srgbClr val="8B6464"/>
      </a:accent1>
      <a:accent2>
        <a:srgbClr val="B79A5A"/>
      </a:accent2>
      <a:accent3>
        <a:srgbClr val="D0A1A1"/>
      </a:accent3>
      <a:accent4>
        <a:srgbClr val="8FA294"/>
      </a:accent4>
      <a:accent5>
        <a:srgbClr val="2B2724"/>
      </a:accent5>
      <a:accent6>
        <a:srgbClr val="D8C59A"/>
      </a:accent6>
      <a:hlink>
        <a:srgbClr val="8B6464"/>
      </a:hlink>
      <a:folHlink>
        <a:srgbClr val="D0A1A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arl &amp; Gold Corpor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b326f239d4ea9" /><Relationship Type="http://schemas.openxmlformats.org/officeDocument/2006/relationships/notesSlide" Target="/ppt/notesSlides/notesSlide1.xml" Id="R2eb8d12ff95445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1a659ada54fe0" /><Relationship Type="http://schemas.openxmlformats.org/officeDocument/2006/relationships/notesSlide" Target="/ppt/notesSlides/notesSlide2.xml" Id="R0aa11e0151a14a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320ff07bf487f" /><Relationship Type="http://schemas.openxmlformats.org/officeDocument/2006/relationships/notesSlide" Target="/ppt/notesSlides/notesSlide3.xml" Id="R110f9ff4c33f4e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5a2f70bfd4d11" /><Relationship Type="http://schemas.openxmlformats.org/officeDocument/2006/relationships/notesSlide" Target="/ppt/notesSlides/notesSlide4.xml" Id="Rd80301b399eb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84d5f3b404cfc" /><Relationship Type="http://schemas.openxmlformats.org/officeDocument/2006/relationships/notesSlide" Target="/ppt/notesSlides/notesSlide5.xml" Id="Rf6a52df7e7d14e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e61a456c9467f" /><Relationship Type="http://schemas.openxmlformats.org/officeDocument/2006/relationships/notesSlide" Target="/ppt/notesSlides/notesSlide6.xml" Id="Rbeba884011764f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9242c85bb418c" /><Relationship Type="http://schemas.openxmlformats.org/officeDocument/2006/relationships/notesSlide" Target="/ppt/notesSlides/notesSlide7.xml" Id="R63ed9657bfe549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43289b4b24c0b" /><Relationship Type="http://schemas.openxmlformats.org/officeDocument/2006/relationships/notesSlide" Target="/ppt/notesSlides/notesSlide8.xml" Id="R5a621844890b4f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4db7a63e44468" /><Relationship Type="http://schemas.openxmlformats.org/officeDocument/2006/relationships/notesSlide" Target="/ppt/notesSlides/notesSlide9.xml" Id="R99c7b5444f6b4e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8f3278a1d48a7" /><Relationship Type="http://schemas.openxmlformats.org/officeDocument/2006/relationships/notesSlide" Target="/ppt/notesSlides/notesSlide10.xml" Id="R2a2674a5a42541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39d2d60fa4e96" /><Relationship Type="http://schemas.openxmlformats.org/officeDocument/2006/relationships/notesSlide" Target="/ppt/notesSlides/notesSlide11.xml" Id="R60e762b2ae6147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b97b27d5642a7" /><Relationship Type="http://schemas.openxmlformats.org/officeDocument/2006/relationships/notesSlide" Target="/ppt/notesSlides/notesSlide12.xml" Id="Re0be0066a0164c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feb37acc44616" /><Relationship Type="http://schemas.openxmlformats.org/officeDocument/2006/relationships/chart" Target="/ppt/slides/charts/chart1.xml" Id="R0f4dd59a83494a5b" /><Relationship Type="http://schemas.openxmlformats.org/officeDocument/2006/relationships/notesSlide" Target="/ppt/notesSlides/notesSlide13.xml" Id="Rcbefdf4e531646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e4cdf7fb0477f" /><Relationship Type="http://schemas.openxmlformats.org/officeDocument/2006/relationships/chart" Target="/ppt/slides/charts/chart2.xml" Id="Rb26e1996f0a6484a" /><Relationship Type="http://schemas.openxmlformats.org/officeDocument/2006/relationships/notesSlide" Target="/ppt/notesSlides/notesSlide14.xml" Id="R86a11db9504c49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cc35b844443d5" /><Relationship Type="http://schemas.openxmlformats.org/officeDocument/2006/relationships/chart" Target="/ppt/slides/charts/chart3.xml" Id="R1a56bcb96df54a4e" /><Relationship Type="http://schemas.openxmlformats.org/officeDocument/2006/relationships/notesSlide" Target="/ppt/notesSlides/notesSlide15.xml" Id="R0ffd020bc59740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f96cb6e134b6d" /><Relationship Type="http://schemas.openxmlformats.org/officeDocument/2006/relationships/notesSlide" Target="/ppt/notesSlides/notesSlide16.xml" Id="R13d20339023e45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61e3583db4479" /><Relationship Type="http://schemas.openxmlformats.org/officeDocument/2006/relationships/notesSlide" Target="/ppt/notesSlides/notesSlide17.xml" Id="Rf2affec39ac940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79199ef5e4025" /><Relationship Type="http://schemas.openxmlformats.org/officeDocument/2006/relationships/notesSlide" Target="/ppt/notesSlides/notesSlide18.xml" Id="Rfcb2ee36edf740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113f28efc485a" /><Relationship Type="http://schemas.openxmlformats.org/officeDocument/2006/relationships/notesSlide" Target="/ppt/notesSlides/notesSlide19.xml" Id="Rd9a2522528f642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949181bf54393" /><Relationship Type="http://schemas.openxmlformats.org/officeDocument/2006/relationships/notesSlide" Target="/ppt/notesSlides/notesSlide20.xml" Id="R778b9ab9592b40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4ce011f9d460e" /><Relationship Type="http://schemas.openxmlformats.org/officeDocument/2006/relationships/notesSlide" Target="/ppt/notesSlides/notesSlide21.xml" Id="R440852e41f2c4a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d84cf35cf4b7e" /><Relationship Type="http://schemas.openxmlformats.org/officeDocument/2006/relationships/notesSlide" Target="/ppt/notesSlides/notesSlide22.xml" Id="Rc1c036780d894e3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今年</c:v>
          </c:tx>
          <c:spPr>
            <a:ln xmlns:a="http://schemas.openxmlformats.org/drawingml/2006/main" w="38100">
              <a:solidFill>
                <a:srgbClr val="8B646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8B6464"/>
              </a:solidFill>
            </c:spPr>
          </c:marker>
          <c:cat>
            <c:strLit>
              <c:ptCount val="8"/>
              <c:pt idx="0">
                <c:v>25 Q1</c:v>
              </c:pt>
              <c:pt idx="1">
                <c:v>25 Q2</c:v>
              </c:pt>
              <c:pt idx="2">
                <c:v>25 Q3</c:v>
              </c:pt>
              <c:pt idx="3">
                <c:v>25 Q4</c:v>
              </c:pt>
              <c:pt idx="4">
                <c:v>26 Q1</c:v>
              </c:pt>
              <c:pt idx="5">
                <c:v>26 Q2</c:v>
              </c:pt>
              <c:pt idx="6">
                <c:v>26 Q3</c:v>
              </c:pt>
              <c:pt idx="7">
                <c:v>26 Q4</c:v>
              </c:pt>
            </c:strLit>
          </c:cat>
          <c:val>
            <c:numLit>
              <c:formatCode>0</c:formatCode>
              <c:ptCount val="8"/>
              <c:pt idx="0">
                <c:v>58</c:v>
              </c:pt>
              <c:pt idx="1">
                <c:v>66</c:v>
              </c:pt>
              <c:pt idx="2">
                <c:v>74</c:v>
              </c:pt>
              <c:pt idx="3">
                <c:v>79</c:v>
              </c:pt>
              <c:pt idx="4">
                <c:v>86</c:v>
              </c:pt>
              <c:pt idx="5">
                <c:v>94</c:v>
              </c:pt>
              <c:pt idx="6">
                <c:v>101</c:v>
              </c:pt>
              <c:pt idx="7">
                <c:v>104</c:v>
              </c:pt>
            </c:numLit>
          </c:val>
        </c:ser>
        <c:ser>
          <c:idx val="1"/>
          <c:order val="1"/>
          <c:tx>
            <c:v>去年</c:v>
          </c:tx>
          <c:spPr>
            <a:ln xmlns:a="http://schemas.openxmlformats.org/drawingml/2006/main" w="28575">
              <a:solidFill>
                <a:srgbClr val="D8C59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D8C59A"/>
              </a:solidFill>
            </c:spPr>
          </c:marker>
          <c:cat>
            <c:strLit>
              <c:ptCount val="8"/>
              <c:pt idx="0">
                <c:v>25 Q1</c:v>
              </c:pt>
              <c:pt idx="1">
                <c:v>25 Q2</c:v>
              </c:pt>
              <c:pt idx="2">
                <c:v>25 Q3</c:v>
              </c:pt>
              <c:pt idx="3">
                <c:v>25 Q4</c:v>
              </c:pt>
              <c:pt idx="4">
                <c:v>26 Q1</c:v>
              </c:pt>
              <c:pt idx="5">
                <c:v>26 Q2</c:v>
              </c:pt>
              <c:pt idx="6">
                <c:v>26 Q3</c:v>
              </c:pt>
              <c:pt idx="7">
                <c:v>26 Q4</c:v>
              </c:pt>
            </c:strLit>
          </c:cat>
          <c:val>
            <c:numLit>
              <c:formatCode>0</c:formatCode>
              <c:ptCount val="8"/>
              <c:pt idx="0">
                <c:v>52</c:v>
              </c:pt>
              <c:pt idx="1">
                <c:v>58</c:v>
              </c:pt>
              <c:pt idx="2">
                <c:v>61</c:v>
              </c:pt>
              <c:pt idx="3">
                <c:v>65</c:v>
              </c:pt>
              <c:pt idx="4">
                <c:v>69</c:v>
              </c:pt>
              <c:pt idx="5">
                <c:v>74</c:v>
              </c:pt>
              <c:pt idx="6">
                <c:v>78</c:v>
              </c:pt>
              <c:pt idx="7">
                <c:v>82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D6C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56E6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6CD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56E68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756E6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貢獻度</c:v>
          </c:tx>
          <c:spPr>
            <a:solidFill xmlns:a="http://schemas.openxmlformats.org/drawingml/2006/main">
              <a:srgbClr val="D8C59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B646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0A1A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79A5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AE1D7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AE1D7"/>
              </a:solidFill>
            </c:spPr>
          </c:dPt>
          <c:cat>
            <c:strLit>
              <c:ptCount val="5"/>
              <c:pt idx="0">
                <c:v>A 類別</c:v>
              </c:pt>
              <c:pt idx="1">
                <c:v>B 類別</c:v>
              </c:pt>
              <c:pt idx="2">
                <c:v>C 類別</c:v>
              </c:pt>
              <c:pt idx="3">
                <c:v>D 類別</c:v>
              </c:pt>
              <c:pt idx="4">
                <c:v>E 類別</c:v>
              </c:pt>
            </c:strLit>
          </c:cat>
          <c:val>
            <c:numLit>
              <c:formatCode>General</c:formatCode>
              <c:ptCount val="5"/>
              <c:pt idx="0">
                <c:v>82</c:v>
              </c:pt>
              <c:pt idx="1">
                <c:v>71</c:v>
              </c:pt>
              <c:pt idx="2">
                <c:v>63</c:v>
              </c:pt>
              <c:pt idx="3">
                <c:v>42</c:v>
              </c:pt>
              <c:pt idx="4">
                <c:v>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2B27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A353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占比</c:v>
          </c:tx>
          <c:dPt>
            <c:idx val="0"/>
            <c:spPr>
              <a:solidFill xmlns:a="http://schemas.openxmlformats.org/drawingml/2006/main">
                <a:srgbClr val="8B6464"/>
              </a:solidFill>
            </c:spPr>
          </c:dPt>
          <c:dPt>
            <c:idx val="1"/>
            <c:spPr>
              <a:solidFill xmlns:a="http://schemas.openxmlformats.org/drawingml/2006/main">
                <a:srgbClr val="B79A5A"/>
              </a:solidFill>
            </c:spPr>
          </c:dPt>
          <c:dPt>
            <c:idx val="2"/>
            <c:spPr>
              <a:solidFill xmlns:a="http://schemas.openxmlformats.org/drawingml/2006/main">
                <a:srgbClr val="D0A1A1"/>
              </a:solidFill>
            </c:spPr>
          </c:dPt>
          <c:dPt>
            <c:idx val="3"/>
            <c:spPr>
              <a:solidFill xmlns:a="http://schemas.openxmlformats.org/drawingml/2006/main">
                <a:srgbClr val="EAE1D7"/>
              </a:solidFill>
            </c:spPr>
          </c:dPt>
          <c:cat>
            <c:strLit>
              <c:ptCount val="4"/>
              <c:pt idx="0">
                <c:v>核心客群</c:v>
              </c:pt>
              <c:pt idx="1">
                <c:v>成長客群</c:v>
              </c:pt>
              <c:pt idx="2">
                <c:v>潛力客群</c:v>
              </c:pt>
              <c:pt idx="3">
                <c:v>其他</c:v>
              </c:pt>
            </c:strLit>
          </c:cat>
          <c:val>
            <c:numLit>
              <c:formatCode>General</c:formatCode>
              <c:ptCount val="4"/>
              <c:pt idx="0">
                <c:v>60</c:v>
              </c:pt>
              <c:pt idx="1">
                <c:v>22</c:v>
              </c:pt>
              <c:pt idx="2">
                <c:v>12</c:v>
              </c:pt>
              <c:pt idx="3">
                <c:v>6</c:v>
              </c:pt>
            </c:numLit>
          </c:val>
        </c:ser>
        <c:firstSliceAng val="270"/>
        <c:holeSize val="68"/>
      </c:doughnutChart>
      <c:spPr>
        <a:solidFill xmlns:a="http://schemas.openxmlformats.org/drawingml/2006/main">
          <a:srgbClr val="FCFBF8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182F0-2D47-4FA8-AF36-1B3FE0EF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C453D-95AD-4BCE-9D62-DC023811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0"/>
            <a:ext cx="49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040C7-3D90-4733-BF74-13C98B0E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5300"/>
            <a:ext cx="4210050" cy="586740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19050">
            <a:solidFill>
              <a:srgbClr val="D8C59A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F8B2C-F6B2-4AA4-B58D-9BF9A96B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623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主視覺圖片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BCEB6-F43D-44E6-81D5-70348050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814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建議比例 3:4 / 4:5｜主體靠外、文字側留白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B0A33-3D2C-4B43-8E1D-BD8F0AF0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609600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19050">
            <a:solidFill>
              <a:srgbClr val="D8C59A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D6D32-7164-4453-A6E2-96CD670E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LOGO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98567-48E7-4578-AE54-D2AC276E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9A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AC0E7-EF42-4350-87BF-B331366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54768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企業內部共用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5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簡報範本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C1E9E-0AD3-4324-84C0-87603F02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20 種常用情境｜部門名稱｜日期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64941-ADC2-4908-8D11-CF6D4BBB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PEARL · GOLD · CLARITY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D29F6-D3DE-4342-9459-D162CB47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版型 01｜封面：主標 8–16 字；圖片主體放右側，保留左側呼吸空間。</a:t>
            </a:r>
          </a:p>
        </p:txBody>
      </p:sp>
    </p:spTree>
    <p:extLst>
      <p:ext uri="{BB962C8B-B14F-4D97-AF65-F5344CB8AC3E}">
        <p14:creationId xmlns:p14="http://schemas.microsoft.com/office/powerpoint/2010/main" val="8781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4D445B-FFE7-4C9A-8D0B-C115C58B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00  ·  品牌視覺系統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606BE-302F-4687-99EE-8C31738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品牌視覺系統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51508-7F28-43F5-891D-13A279B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5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58C33-DF01-4F6A-8911-171ABAF6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色彩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FF8DF-2110-4A7E-BD9D-3EE8AEA2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66950"/>
            <a:ext cx="952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51328-F651-4D1B-A06D-7032FF28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珍珠白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3522B-B3FA-43BF-B322-73FD0EE0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#FCFBF8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478AC-7BE3-4D92-BFEF-20C56EC5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2266950"/>
            <a:ext cx="952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9525">
            <a:solidFill>
              <a:srgbClr val="F3E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DE264-99F0-49B8-AEA1-91C02EB9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48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暖米白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DB28E-B593-4D91-B3DD-95BBAD0E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95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#F3EEE7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41E71-3C00-475B-9626-EB7BCE97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266950"/>
            <a:ext cx="952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B79A5A"/>
          </a:solidFill>
          <a:ln xmlns:a="http://schemas.openxmlformats.org/drawingml/2006/main" w="9525">
            <a:solidFill>
              <a:srgbClr val="B79A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9B8B7-68A9-4DEE-B1DA-7D01EDF2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香檳金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42A14-A1A8-4D0F-BBAC-DB0BF428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95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#B79A5A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8D266-E203-466C-97D2-CC9D3067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266950"/>
            <a:ext cx="952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0A1A1"/>
          </a:solidFill>
          <a:ln xmlns:a="http://schemas.openxmlformats.org/drawingml/2006/main" w="9525">
            <a:solidFill>
              <a:srgbClr val="D0A1A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2A8B6-EF19-4D01-B23A-C6B61A29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柔霧玫瑰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9B24B-2AE4-4092-8D96-2846C22B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#D0A1A1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91491-0741-4F4D-B571-8D4C18BC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2266950"/>
            <a:ext cx="952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2B2724"/>
          </a:solidFill>
          <a:ln xmlns:a="http://schemas.openxmlformats.org/drawingml/2006/main" w="9525">
            <a:solidFill>
              <a:srgbClr val="2B27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CFB50-9884-4447-8794-FFECEFA6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深褐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73085-B265-478C-9262-03EFC1BF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#2B2724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E8816-DAA6-43D4-8089-7CB5835F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字體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1E20D-F6C7-4DB5-9351-64E76AAE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 i="0">
                <a:solidFill>
                  <a:srgbClr val="2B2724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2250" b="0" i="0">
                <a:solidFill>
                  <a:srgbClr val="2B2724"/>
                </a:solidFill>
                <a:latin typeface="Noto Serif CJK TC"/>
                <a:ea typeface="Noto Serif CJK TC"/>
                <a:cs typeface="Noto Serif CJK TC"/>
              </a:rPr>
              <a:t>標題｜思源宋體／Noto Serif TC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C4ED9-B351-4880-976C-26E42D20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內文｜思源黑體／Noto Sans TC　英文｜Montserrat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9A31B-CA0F-4827-8CE6-B26DE975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標題 36–50 pt｜內文 16–22 pt｜金色只做強調，不承擔長文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38AED-96E0-4774-9199-AA1B96EB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14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圖片與排版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E572F-4BAE-4C02-9E38-B16AE2A0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266950"/>
            <a:ext cx="46863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19050">
            <a:solidFill>
              <a:srgbClr val="D8C59A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C1CE18-376A-46AF-B10C-AAC5DCC7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2422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圖片示意區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20573-26BC-4988-BFF0-14F2804F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43325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建議比例 16:9 / 4:3｜主體靠外、文字側留白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A781D4-0DFE-4FB5-B457-BAC34128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19700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• 使用暖白、米色、金屬、珍珠或柔光背景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• 人物視線與產品朝向應導向文字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• 內容頁左右安全邊界 72 px；欄距 28–36 px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FEC73-D70F-4878-B14C-C6208B59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1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 i="1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色票為此範本的預設提案；如公司另有正式 CI 規範，應以 CI 為準。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71586-B6B5-4E4E-8849-6B2E1DCA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113B7E-B57D-4BFF-987D-256561FD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207562-8148-48DE-86C4-7E078C47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8948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52A3C4-5435-44A5-8135-9FC5AA45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00  ·  20 種情境索引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44FC8-ED92-4F96-B344-5BC24DBA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20 種情境，一張投影片解一個任務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A9F82-EEAE-47C7-8523-88A9107E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5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9CE7A-EBB5-43C7-A462-EA8BD666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3EF56-4A8E-4058-A2C7-47D0A0C7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封面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8EE70-BE43-488A-8C4E-0CD48E60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C81DD-D286-4ABE-8649-BBCA7C11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49A98-5B80-43EE-BCCA-8CD7767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812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目錄／議程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C7CF0-9C78-44FB-A5AE-09B9EB6A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F161A-C3C1-426E-8E50-C1B12DA0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F51E5-0053-487C-8DF4-AC4DCE8F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章節分隔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41C37-FDFC-46EB-8D9D-C63052F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129C2-F180-4906-9534-6395A9F1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6044B-6619-4227-B5A3-9B6F545B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執行摘要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1AA5A-FE05-41BB-807D-1804661E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65216-1758-4752-BF02-D9AD8376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5C79A-6E82-4FE4-83E1-14EAE460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核心觀點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4BF24-C95C-4614-AF47-F2BB7452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B3E06-71CD-4749-8673-6C71C82B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B6CD3-0908-4442-ACDC-24804B6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957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左文右圖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72195-D352-489F-BF9E-7945932E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C87AA-892A-43B6-9C48-903E20A5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52116-E0DF-4C8C-A806-02309C62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滿版圖片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C1C03-D708-4286-826E-587FE2FB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D93AB-AEC4-4CB7-AB95-71E36FFC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7B52AD-11BA-48C0-B66F-BB507789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529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雙欄比較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1CB1F8-47D7-46F7-B75B-D037F1E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2C0D61-6038-49FE-958E-B4E53906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51F098-0722-457E-B65D-29DCF131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三大支柱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A138A7-D188-4DCE-9D48-EE0EE316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F39AE2-DE68-44DA-9EFA-DF875610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92C9A7-39BF-4DED-9185-32D94F0F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02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四項 KPI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0338FD-ECB0-400D-BF04-B0BB143F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DA36F-F112-47B2-BFFD-95D456A6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D46AB3-B151-473A-A595-47D0D76B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趨勢折線圖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9CA855-7D62-4A5A-9466-D471BB80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F5864F-765D-4374-A64C-82CAF6E5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81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03FB5A-ACDD-42D2-BBEC-52E17AD0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類別比較長條圖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1DEF03-7F99-48B1-93DA-CCA1A0E1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050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7637F2-6AA9-480D-B87F-168E10F2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3F0957-D8A7-4763-BEDC-7DF2CE8A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組成環圈圖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97C5CD-D8C7-4494-AB06-4FAAF8A8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3F60A8-8F8F-4052-9982-F4ACA5E2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384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B595EA-32FD-4C23-BFBD-A40FEEFB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384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資料表格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46B8AB-0322-4D2E-A5D5-FD9235C1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623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4A9019-2699-4103-AA2A-F14E7DE7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67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30116B-58DB-4610-9458-26A559E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五步驟流程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6DD61B-322B-43AE-AB3D-6F26E8CE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01C9C7-17D4-4A66-915F-24848117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957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418499-A2F4-4985-9467-B6BD39EF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里程碑時間軸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34EE33-00EE-4965-A366-AEF9166C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95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48DD33-E771-447A-A60E-8560D594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24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FE9F05-34A7-46E3-8AC1-B5FA311A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年度路線圖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AC4856-4BEF-473C-A081-BE0D450C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48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CFC73F-A141-4566-B88C-FBC15F45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529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781F49-13CD-4D89-8A50-CA0623D1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529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2×2 決策矩陣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9740BC-0D53-403E-BEEC-3C3EEDC9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768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9A3613-A219-4D4E-A712-7B813491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81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7854CD-A4CD-4EB8-8D79-4ECEB9A1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81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組織／角色分工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89D679-97E1-411B-B83A-D65BEE5B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054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169E99-834C-47A9-9001-1C52C601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10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EF5C71-C0F0-4962-9E1F-945644A8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02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行動清單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97597D-0332-4930-9A41-1288D77D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9340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E628F7-44EB-457E-B79B-63F03D4E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操作方式：直接複製需要的版型，再替換標題、文字、圖表與圖片。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15F7E4-0886-44CA-873C-2B46FEBC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8C4F3E-02C7-4EE3-BCF3-5C205B9C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9EAECD-A3DA-4697-A1CF-E91E05D9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70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29E00-0FA2-41CC-AFEC-602466D2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02  ·  目錄／議程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D4138-2CA3-4FFC-87CC-F5C1C9F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今天要完成的五件事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B4CEF-8525-4E3B-9730-BB752BE6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A1D53-5337-410D-85FD-7B31CA2C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76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背景與目標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6C91F-2966-4757-A26F-2439A4CB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240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為什麼現在要處理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275A9-A3E6-41D6-BE49-343AEDE9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9800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D00CF-C8B4-469A-8BD3-73F07CA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E22D6-60E0-4FA6-8E90-4B055A42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現況觀察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18254-EA28-431C-AD8F-5DD66623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622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關鍵數據與使用者聲音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54001-4D32-42C6-A4CB-F3436A68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F2B7D-694A-43A0-93A0-C6E5D6E3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CCE9E-A7ED-449E-AAA8-3044435D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52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方案設計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581C5-CBC1-4027-9609-C2EDE2BB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04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可選路徑與取捨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7149A-C385-442E-911A-4CAB0630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9543D-D437-413A-9082-42F242DF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C09D3-0A3B-4855-AA22-33552B23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執行計畫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52ED8-990F-4E67-B15A-1F6F8905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386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時間、責任與資源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69880-6675-47E4-9045-949FC8DE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24400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317C0-A73B-460E-B8F0-8F937B23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52912-D320-4D5A-80E9-82FA1CD9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需要決策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F5721-8FBD-4E8C-9006-A66A3877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768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今天要確認的事項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6D6BE-2B93-4C84-826A-A9A7E84A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F6228-7B40-4510-B385-DCC7BF9F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5625" y="1676400"/>
            <a:ext cx="76200" cy="388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46B3F-A7F6-487B-921F-07F68EBF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58C90-5D6E-4FF7-8B58-5B455503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FD684-34E7-4DAE-B943-7DD97EF6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3131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B2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94545-4E6D-42A3-82E0-7FF47A4E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CC919-7D72-43BF-8DC9-24F0BD12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685800"/>
            <a:ext cx="3105150" cy="548640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19050">
            <a:solidFill>
              <a:srgbClr val="D8C59A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9D188-39C3-48FA-98F5-8B41026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2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章節圖片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F0250-EAF9-4B23-B6B6-81A4A06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814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建議比例 4:5｜主體靠外、文字側留白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C5033-A903-48DB-89F0-1E247AED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D8C5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D8C59A"/>
                </a:solidFill>
                <a:latin typeface="Noto Sans CJK TC"/>
                <a:ea typeface="Noto Sans CJK TC"/>
                <a:cs typeface="Noto Sans CJK TC"/>
              </a:rPr>
              <a:t>版型 03  ·  章節分隔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4D5B8-3E69-4A33-AB53-F98A23B9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33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A3B43-B6C3-4B48-94EB-DC532430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500" b="0" i="0">
                <a:solidFill>
                  <a:srgbClr val="FFFFFF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4500" b="0" i="0">
                <a:solidFill>
                  <a:srgbClr val="FFFFFF"/>
                </a:solidFill>
                <a:latin typeface="Noto Serif CJK TC"/>
                <a:ea typeface="Noto Serif CJK TC"/>
                <a:cs typeface="Noto Serif CJK TC"/>
              </a:rPr>
              <a:t>看見現況，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500" b="0" i="0">
                <a:solidFill>
                  <a:srgbClr val="FFFFFF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4500" b="0" i="0">
                <a:solidFill>
                  <a:srgbClr val="FFFFFF"/>
                </a:solidFill>
                <a:latin typeface="Noto Serif CJK TC"/>
                <a:ea typeface="Noto Serif CJK TC"/>
                <a:cs typeface="Noto Serif CJK TC"/>
              </a:rPr>
              <a:t>才能選對下一步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066D3-F3CF-42DC-A0DC-B94486C4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D8C5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 i="0">
                <a:solidFill>
                  <a:srgbClr val="D8C59A"/>
                </a:solidFill>
                <a:latin typeface="Noto Sans CJK TC"/>
                <a:ea typeface="Noto Sans CJK TC"/>
                <a:cs typeface="Noto Sans CJK TC"/>
              </a:rPr>
              <a:t>本章聚焦：市場變化、內部限制與最值得優先處理的問題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54B85-D55F-4E33-97EA-699DF92E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51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32282-6987-41AF-AA7C-B9F757D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D8C59A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D8C59A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CC000-CD93-4F2B-8ABC-3EF043B2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D8C59A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D8C59A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2793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4D9CC-77AD-4980-820C-FC8C2101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04  ·  執行摘要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5E1DF-2D7E-4401-B8F2-F49B4910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三個重點，先讓決策者掌握全貌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69148-B989-46F5-9398-C803FD52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D8FCA-BF28-4461-82F6-6D483F6E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看見機會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EDA43-440A-422D-B337-B760160E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消費者偏好集中在『有感、可信、容易理解』的價值。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0566C-5A09-4370-BE3A-E1C9DB92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476750"/>
            <a:ext cx="7048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BD0B4-B695-4A42-B31C-D7FBC57D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0975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148A9-9CD4-4634-8AC4-42C1CBC4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B727D-B178-4E09-9944-6A954663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93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聚焦選擇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2E425-1C7A-462E-BB2A-70BD053F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資源先投向能同時提升體驗與營運效率的方案。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E9255-BE99-4F1A-97BF-A6E497C1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476750"/>
            <a:ext cx="7048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318CD-2FB8-49AA-855C-1D3C201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46296-5115-4038-8AC1-B6A871C3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75D12-43D1-46CB-8098-DB243C7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形成節奏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59F23-BAF1-4F4C-A1C0-4D8122BD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用 90 天驗證，再依數據擴大或修正。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E1BC5-2A87-4162-9871-5C911F0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4476750"/>
            <a:ext cx="7048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A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2F88E-0751-4FA6-A628-67959557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334000"/>
            <a:ext cx="108204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34F8C-3813-4B07-857C-E666E0E7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決策提示｜先確認『要解決什麼』，再討論『要用哪個工具』。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B2EE1-7E77-4B14-98E2-36F7CCE4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2F5F9-7AF7-4B55-91C9-78D0B7BA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54DF8-8849-461F-8C7D-4231F33E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1170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E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F98B0-2A9D-4D32-A737-7C7B283A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05  ·  核心觀點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687D0-BB97-46B0-982F-2C6D8FBA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一張投影片，只說一件重要的事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7638B-1AFF-4741-A97E-F5780AD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9334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450" b="0" i="0">
                <a:solidFill>
                  <a:srgbClr val="2B2724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450" b="0" i="0">
                <a:solidFill>
                  <a:srgbClr val="2B2724"/>
                </a:solidFill>
                <a:latin typeface="Noto Serif CJK TC"/>
                <a:ea typeface="Noto Serif CJK TC"/>
                <a:cs typeface="Noto Serif CJK TC"/>
              </a:rPr>
              <a:t>「好的內部簡報，不是把資料搬上去；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3450" b="0" i="0">
                <a:solidFill>
                  <a:srgbClr val="2B2724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3450" b="0" i="0">
                <a:solidFill>
                  <a:srgbClr val="2B2724"/>
                </a:solidFill>
                <a:latin typeface="Noto Serif CJK TC"/>
                <a:ea typeface="Noto Serif CJK TC"/>
                <a:cs typeface="Noto Serif CJK TC"/>
              </a:rPr>
              <a:t>而是讓下一個決定變得更容易。」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1B7F2-89F3-4AF2-B782-5A77525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9A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468DD-5E36-4964-AED0-03383BAD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下方可補一則數據、來源或行動含意，讓觀點不是口號。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0BEE4-C0CD-4D01-93DA-CB82662F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76850"/>
            <a:ext cx="39624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0DD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996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關鍵數據／證據放這裡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2BBF5-072A-4EE1-86EF-7B7AF2E2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E3A9B-53A1-43B3-AF3D-FB0621A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FB381-34D3-40E3-A68F-9A9F50FA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2076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048B7-809B-4201-AFE7-91600105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06  ·  左文右圖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E3B72-B0BB-412C-8E8E-6BEB35EE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用一張圖，讓抽象概念落地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328E2-73E7-4EA0-BF7B-D2A2C8A7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段落小標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EA2C2-A9D5-41F3-A545-58785F02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先講結論：</a:t>
            </a: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用一句話指出此頁要傳達的意義。</a:t>
            </a:r>
          </a:p>
          <a:p xmlns:a="http://schemas.openxmlformats.org/drawingml/2006/main">
            <a:pPr marL="24" indent="-14"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再補證據：</a:t>
            </a: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用 2–3 點數據、觀察或例子支持。</a:t>
            </a:r>
          </a:p>
          <a:p xmlns:a="http://schemas.openxmlformats.org/drawingml/2006/main">
            <a:pPr marL="24" indent="-14"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最後連到行動：</a:t>
            </a: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說明對部門或專案的下一步。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5B40D-AEC0-4276-AC4B-8D055550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24400"/>
            <a:ext cx="4762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94A18-C362-4C0A-B23E-A0B769D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圖片不要只是裝飾：它應該解釋產品、人物、場景或結果。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A511A-90A9-446D-9425-31A315E0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1581150"/>
            <a:ext cx="53911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19050">
            <a:solidFill>
              <a:srgbClr val="D8C59A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F49A0-EA6B-499C-B626-A16C8D07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62325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內容圖片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983AF-2552-4DA3-BCE3-D2A9F8B6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81425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建議比例 4:3 / 1:1｜主體靠外、文字側留白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A3D5A-CAF8-47B9-A34F-1E4083F5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29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圖片建議：4:3 或 1:1；主體靠右時，文字放左側。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C74B9-C8A7-4717-BA9F-F3801A5B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A989A-37F4-4D38-9FE3-E852B7AC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B8639-7B29-4726-BD29-42966E31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840903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B2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A2F58-94D9-4518-AE93-9E2A4D2F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55BC1-EB7F-4DB7-847F-84D5DDCC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2450"/>
            <a:ext cx="108204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19050">
            <a:solidFill>
              <a:srgbClr val="D8C59A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22602-EA71-4997-AC96-BD8355ED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滿版形象圖片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C5BBF-50E5-4777-8E04-37A8BFBE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建議比例 16:9｜主體靠外、文字側留白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7CB00-5873-46D3-B679-0F655029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63FA9-5A4E-4104-A07C-34B22A53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D8C59A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D8C59A"/>
                </a:solidFill>
                <a:latin typeface="Montserrat"/>
                <a:ea typeface="Montserrat"/>
                <a:cs typeface="Montserrat"/>
              </a:rPr>
              <a:t>版型 07  ·  滿版圖片／品牌故事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61B66-2FA4-4690-A181-AD1890CD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讓圖片先建立情緒，再用一句話收束意義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26BCC-BCE9-45AB-BFD5-40A0DAB2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D8C59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 i="0">
                <a:solidFill>
                  <a:srgbClr val="D8C59A"/>
                </a:solidFill>
                <a:latin typeface="Noto Sans CJK TC"/>
                <a:ea typeface="Noto Sans CJK TC"/>
                <a:cs typeface="Noto Sans CJK TC"/>
              </a:rPr>
              <a:t>適合品牌理念、活動開場、空間與產品情境；圖片本身應具備清楚焦點。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00294-76AD-4FA1-AC71-AE2BE829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38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D8C59A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D8C59A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4971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8A54A-57CB-4C5B-8767-113191F3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08  ·  雙欄比較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35B59-EA8D-4DFE-B074-9101F0B3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比較時，先統一判斷標準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BE34E-9022-442B-9DAF-19DF5EBC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D6C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FFD41-BD39-4986-A6A0-79D44C42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方案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34C07-862A-4641-AFB3-F5217770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B79A5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B79A5A"/>
                </a:solidFill>
                <a:latin typeface="Noto Sans CJK TC"/>
                <a:ea typeface="Noto Sans CJK TC"/>
                <a:cs typeface="Noto Sans CJK TC"/>
              </a:rPr>
              <a:t>穩健推進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E7234-488B-4899-A9B0-C1AA1A69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343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投入較小，兩週可開始</a:t>
            </a:r>
          </a:p>
          <a:p xmlns:a="http://schemas.openxmlformats.org/drawingml/2006/main">
            <a:pPr marL="24" indent="-14"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沿用既有流程，變動風險低</a:t>
            </a:r>
          </a:p>
          <a:p xmlns:a="http://schemas.openxmlformats.org/drawingml/2006/main">
            <a:pPr marL="24" indent="-14"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效益較慢，需要持續優化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962DD-AE6C-487C-8074-FE212A0C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4381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0DD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適合｜先驗證需求與使用率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7CB67-78F8-4186-84F2-4CD704F1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方案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2AB5C-C690-4CB5-AE5F-34292CAE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8FA2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8FA294"/>
                </a:solidFill>
                <a:latin typeface="Noto Sans CJK TC"/>
                <a:ea typeface="Noto Sans CJK TC"/>
                <a:cs typeface="Noto Sans CJK TC"/>
              </a:rPr>
              <a:t>一次到位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0A08A-5744-4C00-BFAC-F63815E9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4343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前期投入較高，需要跨部門配合</a:t>
            </a:r>
          </a:p>
          <a:p xmlns:a="http://schemas.openxmlformats.org/drawingml/2006/main">
            <a:pPr marL="24" indent="-14"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流程重整完整，後續維護較單純</a:t>
            </a:r>
          </a:p>
          <a:p xmlns:a="http://schemas.openxmlformats.org/drawingml/2006/main">
            <a:pPr marL="24" indent="-14"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預期效益較高，但驗證期較長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B8582-5B4E-468B-B863-52F87242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53000"/>
            <a:ext cx="4381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3E8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8FA2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8FA294"/>
                </a:solidFill>
                <a:latin typeface="Noto Sans CJK TC"/>
                <a:ea typeface="Noto Sans CJK TC"/>
                <a:cs typeface="Noto Sans CJK TC"/>
              </a:rPr>
              <a:t>適合｜方向明確且有足夠資源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7DCB4-609C-4FDA-843A-67C9A0A3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FB3FA-F172-41A4-BF92-871AE74D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77C80-F289-4158-AB92-54C5376D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57763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4F0B2-F518-4248-96A5-70941129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09  ·  三大支柱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97B74-DF46-4F4A-A865-68578F1B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策略落地，需要三個支柱同時成立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85467-56D9-40D5-840F-CA5E3B8C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2298B-37E6-4015-8A78-3A89F56D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381250"/>
            <a:ext cx="76200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8F2FF-1592-4FE9-9904-BA20FB32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8D2D1-C41F-431B-8FAD-3B7F8D0B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角色清楚、具備能力，知道何時交由 AI 或工具協助。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C22B4-862B-40F4-9D97-8B6D504F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衡量方式｜填入一項核心指標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C6D31-E98B-4276-A7B5-F1737E21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9492F-2080-4058-A2C9-886554E3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381250"/>
            <a:ext cx="76200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93F5B-FE68-4B09-9DF0-C9E9A472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8DF4C-EB23-4D38-9068-4DE0BC31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2420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輸入、審核、交付與例外處理都有一致規則。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5B7C6-14D5-493B-BBFA-EE2747E7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5300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B79A5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B79A5A"/>
                </a:solidFill>
                <a:latin typeface="Noto Sans CJK TC"/>
                <a:ea typeface="Noto Sans CJK TC"/>
                <a:cs typeface="Noto Sans CJK TC"/>
              </a:rPr>
              <a:t>衡量方式｜填入一項核心指標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69DE5-355D-4888-9677-C67A851A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05493-7A66-43BB-89C1-D6219A98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2381250"/>
            <a:ext cx="76200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A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6F570-63A2-47BB-9CF3-849DD811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數據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3B714-1538-4D3D-A1BE-0828405B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指標可追蹤，能判斷方案是否真的改善結果。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16116-2FFA-4C1C-893F-B8CCE48C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8FA2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8FA294"/>
                </a:solidFill>
                <a:latin typeface="Noto Sans CJK TC"/>
                <a:ea typeface="Noto Sans CJK TC"/>
                <a:cs typeface="Noto Sans CJK TC"/>
              </a:rPr>
              <a:t>衡量方式｜填入一項核心指標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ACFC0-6BC5-4A52-A315-5CF37CF1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084E6-A987-4CBB-B733-5CBB31FE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2C450-663F-430F-BA38-43AF09BD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5852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781FC9-350F-4A5D-A425-E71CFB1D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10  ·  四項 KPI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CA27A-6A7E-45C8-95D0-4DD97DB7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四個數字，說明本期是否走在正軌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E9F86-4EE5-4533-97D5-09E42A17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營收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8486D-728B-4D9E-9D39-4F8E9526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676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46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128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0EFD5-8211-45BD-8866-614458DB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76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百萬元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2B6CA-260A-431B-8A99-92D7E5C0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+12%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1BEC3-7035-42F2-B87B-713B76CD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861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vs. 上期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99293-76B9-4B40-BBE9-9B71ACF5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52625"/>
            <a:ext cx="0" cy="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26949-C583-4AB2-855F-46F993B9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431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回購率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EB79C-917A-4A65-83B9-7CE367FF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38400"/>
            <a:ext cx="1676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46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99F1D-3445-455A-B82E-99B733E0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D47D0-05B0-432B-B340-469036BA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290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+4.2pt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78E82-715C-465C-A786-190F4F45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861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vs. 上期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D7A57-FD4D-4699-8209-9D312A22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0" cy="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DC7E8-5205-4A89-8A3A-11E62096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準時交付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F28BA-5944-44E7-83F5-B06D50E4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1676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defRPr>
            </a:pPr>
            <a:r>
              <a:rPr sz="465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rPr>
              <a:t>96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EFA24-C171-4AE8-B93F-9401C3AF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4E44A-4C65-4E6C-88FD-F8D6781C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rPr>
              <a:t>+1.8pt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17485-1D56-4C2A-B085-5FF9CF01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vs. 上期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962CE-936B-4913-8665-86EE8CD2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0" cy="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79F34-AED7-4F31-8D65-5261937F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431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客訴率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229084-500F-43B2-AA69-6531F046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38400"/>
            <a:ext cx="1676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 i="0">
                <a:solidFill>
                  <a:srgbClr val="2B2724"/>
                </a:solidFill>
                <a:latin typeface="Montserrat"/>
                <a:ea typeface="Montserrat"/>
                <a:cs typeface="Montserrat"/>
              </a:defRPr>
            </a:pPr>
            <a:r>
              <a:rPr sz="4650" b="1" i="0">
                <a:solidFill>
                  <a:srgbClr val="2B2724"/>
                </a:solidFill>
                <a:latin typeface="Montserrat"/>
                <a:ea typeface="Montserrat"/>
                <a:cs typeface="Montserrat"/>
              </a:rPr>
              <a:t>0.8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6EE1FC-9FEF-4282-9146-58369C24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76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DC71A-A360-48DF-9167-E478328C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2B2724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2B2724"/>
                </a:solidFill>
                <a:latin typeface="Montserrat"/>
                <a:ea typeface="Montserrat"/>
                <a:cs typeface="Montserrat"/>
              </a:rPr>
              <a:t>−0.3pt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0880B6-97F6-4ABE-ADDB-94877017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861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vs. 上期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D674C-5C44-49A3-A1A9-DF57B189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62500"/>
            <a:ext cx="108204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EFBE1-71CC-49D4-8E75-60C32DBA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解讀｜前三項持續改善；客訴率下降，需確認是否來自實際品質改善，而非回報量減少。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30B36-2F14-465E-A8AA-1C78A50F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A26E7-7CCF-446A-9C0B-6D699880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38C651-442C-4E45-B35C-228F2B19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78153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067E8-CBAF-4E7D-AB43-3393C8D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11  ·  趨勢折線圖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D2C7E-53DF-433D-86F9-4B54C162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成長趨勢穩定，但第四季開始放緩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82105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4dd59a83494a5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D0C6D-E65A-4264-BCCB-9D25CDBE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2095500"/>
            <a:ext cx="22479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6369A-AE05-4EAB-B156-50A4A1FE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05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＋27%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0C0D2-84B5-43EC-AF8A-1CF8CA7E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全年成長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05AD9-AAC8-4AB3-AA17-2F965E1D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81450"/>
            <a:ext cx="1885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第四季斜率變緩，下一步應拆解新客與回購貢獻。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A9642-1F38-4B25-BA9E-73496C73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D4306-23EE-4AE7-9352-EC9A3611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D1D3F-710E-4C54-B5B5-9457DA1B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725813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5474C-DA6C-4B21-9E89-B7E0A307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12  ·  類別比較長條圖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25B5E-F4C6-47B0-B6DC-31127AF1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資源應優先投入前三個高貢獻項目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8191500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6e1996f0a6484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F7917-7E81-41E5-B9F2-3DAF2EB6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3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43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82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E335B-7292-4735-ACB7-E08E905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最高貢獻度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19261-99A3-4EA3-9B44-D8FAAB2E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052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9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94267-DA0F-4055-A22C-22A78988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29050"/>
            <a:ext cx="2076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用單一強調色凸顯最重要的類別，其餘降低彩度。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99443-FBF9-4E43-9207-5B894526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F5607-1BEA-420D-B629-001E6A4C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C721C-8E05-4013-9111-0D8E531F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544685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BA3C5E-A35A-4A34-89CA-03F9D49D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13  ·  組成環圈圖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40B3B-C7CE-47BD-8072-0B733A55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核心客群已占六成，成長來自第二圈層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4953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56bcb96df54a4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C8140-9FD8-4809-8BA5-32883D16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575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60%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96C76-490D-4BA7-B5D0-3A6186C7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10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核心客群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AFA04-5D78-461B-B19F-8C493AA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133600"/>
            <a:ext cx="152400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B6464"/>
          </a:solidFill>
          <a:ln xmlns:a="http://schemas.openxmlformats.org/drawingml/2006/main" w="9525">
            <a:solidFill>
              <a:srgbClr val="8B64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347E5-CD62-478D-A198-7F5450D2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核心客群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14475-F854-4EFD-A50C-90266F7E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6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60%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2450F-139F-4561-997B-0BC6193E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95550"/>
            <a:ext cx="411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2C60A-A7E2-4557-BF30-208C79B7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838450"/>
            <a:ext cx="152400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79A5A"/>
          </a:solidFill>
          <a:ln xmlns:a="http://schemas.openxmlformats.org/drawingml/2006/main" w="9525">
            <a:solidFill>
              <a:srgbClr val="B79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891BF-29C4-44F9-AD38-7D780645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成長客群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03C91-303C-40FE-B7CE-691EB05B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00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6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22%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35C03-C1E2-4F09-9F32-E8C07FFF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0400"/>
            <a:ext cx="411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89AD4-92AB-4553-9876-11FC0AA5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543300"/>
            <a:ext cx="152400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0A1A1"/>
          </a:solidFill>
          <a:ln xmlns:a="http://schemas.openxmlformats.org/drawingml/2006/main" w="9525">
            <a:solidFill>
              <a:srgbClr val="D0A1A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9EF17-B393-49B9-88D3-45D662EC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05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潛力客群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A933C-D683-4EBC-A332-B8F05D21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052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650" b="1" i="0">
                <a:solidFill>
                  <a:srgbClr val="D0A1A1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D0A1A1"/>
                </a:solidFill>
                <a:latin typeface="Montserrat"/>
                <a:ea typeface="Montserrat"/>
                <a:cs typeface="Montserrat"/>
              </a:rPr>
              <a:t>12%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051B4-1CE3-4FB6-B836-1DFCD3CE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05250"/>
            <a:ext cx="411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44AEB-1DDC-4032-8414-05B8F485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248150"/>
            <a:ext cx="152400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E1D7"/>
          </a:solidFill>
          <a:ln xmlns:a="http://schemas.openxmlformats.org/drawingml/2006/main" w="9525">
            <a:solidFill>
              <a:srgbClr val="A9A09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702CE1-71C0-49BE-A52D-89BFF7E3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其他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8D1D3-7039-4896-8D54-062A8125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10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650" b="1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D9418-D2DE-49EB-BD56-E064E658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10100"/>
            <a:ext cx="411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7C590-402E-44A4-9DD5-83D401D3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816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解讀｜環圈圖適合看『組成』，不適合比較很多相近數值。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CD504-4EFD-46C7-8859-1EF02685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0EA51-2C48-42F3-B2F9-45D91A4C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00B0B-1E97-4E4F-9A25-1A180F76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691872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BDE5A-EE8A-4567-B18D-ED4D7FE2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14  ·  資料表格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8AFDB-081C-4124-B1F9-565388FA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把比較維度固定，表格才有決策價值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1145"/>
                <a:gridCol w="3662289"/>
                <a:gridCol w="1664677"/>
                <a:gridCol w="1997612"/>
                <a:gridCol w="1664677"/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方案</a:t>
                      </a:r>
                    </a:p>
                  </a:txBody>
                  <a:tcPr marL="95250" marR="95250" marT="95250" marB="95250" anchor="ctr">
                    <a:solidFill>
                      <a:srgbClr val="8B64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適用情境</a:t>
                      </a:r>
                    </a:p>
                  </a:txBody>
                  <a:tcPr marL="95250" marR="95250" marT="95250" marB="95250" anchor="ctr">
                    <a:solidFill>
                      <a:srgbClr val="8B64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導入難度</a:t>
                      </a:r>
                    </a:p>
                  </a:txBody>
                  <a:tcPr marL="95250" marR="95250" marT="95250" marB="95250" anchor="ctr">
                    <a:solidFill>
                      <a:srgbClr val="8B64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預期效益</a:t>
                      </a:r>
                    </a:p>
                  </a:txBody>
                  <a:tcPr marL="95250" marR="95250" marT="95250" marB="95250" anchor="ctr">
                    <a:solidFill>
                      <a:srgbClr val="8B64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建議</a:t>
                      </a:r>
                    </a:p>
                  </a:txBody>
                  <a:tcPr marL="95250" marR="95250" marT="95250" marB="95250" anchor="ctr">
                    <a:solidFill>
                      <a:srgbClr val="8B646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A353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快速試行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A353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需求仍待驗證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A353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低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A353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中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A353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先做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B272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流程優化</a:t>
                      </a:r>
                    </a:p>
                  </a:txBody>
                  <a:tcPr marL="95250" marR="95250" marT="85725" marB="85725" anchor="ctr"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B272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已有明確痛點</a:t>
                      </a:r>
                    </a:p>
                  </a:txBody>
                  <a:tcPr marL="95250" marR="95250" marT="85725" marB="85725" anchor="ctr"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B272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中</a:t>
                      </a:r>
                    </a:p>
                  </a:txBody>
                  <a:tcPr marL="95250" marR="95250" marT="85725" marB="85725" anchor="ctr"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B272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高</a:t>
                      </a:r>
                    </a:p>
                  </a:txBody>
                  <a:tcPr marL="95250" marR="95250" marT="85725" marB="85725" anchor="ctr"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B272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優先</a:t>
                      </a:r>
                    </a:p>
                  </a:txBody>
                  <a:tcPr marL="95250" marR="95250" marT="85725" marB="85725" anchor="ctr">
                    <a:solidFill>
                      <a:srgbClr val="F3EEE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A353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系統整合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A353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跨部門與多資料源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A353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高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A353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高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A353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分階段</a:t>
                      </a:r>
                    </a:p>
                  </a:txBody>
                  <a:tcPr marL="95250" marR="95250" marT="85725" marB="8572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8B646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全面重建</a:t>
                      </a:r>
                    </a:p>
                  </a:txBody>
                  <a:tcPr marL="95250" marR="95250" marT="85725" marB="85725" anchor="ctr">
                    <a:solidFill>
                      <a:srgbClr val="F0DD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8B646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舊流程無法延伸</a:t>
                      </a:r>
                    </a:p>
                  </a:txBody>
                  <a:tcPr marL="95250" marR="95250" marT="85725" marB="85725" anchor="ctr">
                    <a:solidFill>
                      <a:srgbClr val="F0DD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8B646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高</a:t>
                      </a:r>
                    </a:p>
                  </a:txBody>
                  <a:tcPr marL="95250" marR="95250" marT="85725" marB="85725" anchor="ctr">
                    <a:solidFill>
                      <a:srgbClr val="F0DD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8B646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不確定</a:t>
                      </a:r>
                    </a:p>
                  </a:txBody>
                  <a:tcPr marL="95250" marR="95250" marT="85725" marB="85725" anchor="ctr">
                    <a:solidFill>
                      <a:srgbClr val="F0DD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8B646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審慎</a:t>
                      </a:r>
                    </a:p>
                  </a:txBody>
                  <a:tcPr marL="95250" marR="95250" marT="85725" marB="85725" anchor="ctr">
                    <a:solidFill>
                      <a:srgbClr val="F0DDD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436B1-FBA0-481B-8C33-55A26D46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表格下方只留一個結論：本例建議先做『流程優化』，全面重建須另行驗證。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95AD6-456F-4FD0-BCDD-0A5648D2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97873-9C90-4B60-8F29-F27CBEA6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2B076-A4FC-4B5B-A443-0F81CD2C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257995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64442-AD98-47B6-8574-90039E0B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15  ·  五步驟流程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B5C49-2D06-4369-B349-5A589686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把複雜工作拆成五個可交付步驟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2CFB5-2031-4700-B0D7-A64F714D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C5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75C77-40B1-4C61-A073-3F0BDF31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8384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47625">
            <a:solidFill>
              <a:srgbClr val="8B64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88933-43B8-46CA-8AAB-C9BF00D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43F95-B54A-416C-88E1-9718266A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蒐集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4A652-8F61-4725-8BC6-AB6E727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需求與資料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C62AE-DB73-47EC-81FC-E60AEFB0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28384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47625">
            <a:solidFill>
              <a:srgbClr val="D0A1A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44100-2A33-4F71-907F-E2D4F40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D0A1A1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D0A1A1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B3FEC-3B3A-4D92-A833-1A24426A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052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C052A-8F4F-4BCC-B8E6-00332511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規則與優先序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7F860-AB8D-4BC0-9B96-0E2AC2A3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28384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47625">
            <a:solidFill>
              <a:srgbClr val="B79A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3088F-B6CA-47D6-9C69-D254C0E9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09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68B16-46E4-4631-BB6A-9D63AA7C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產出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D4835-7F8C-4418-9117-5CB228EA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386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初稿或方案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E1E7D-8653-47E1-9E8A-F4B9B5DA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28384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47625">
            <a:solidFill>
              <a:srgbClr val="8FA29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D61D0-4592-41FE-9B15-B1DB4525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9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E4B60-92BC-45C2-9022-13C568A1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審核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AA41E-9EED-4D0C-97BE-DC884AFF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386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品質與風險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77807-CFF3-4394-B5B3-CA5F5D0F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28384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47625">
            <a:solidFill>
              <a:srgbClr val="2B27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4488-2682-45EA-95B8-1B21D479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09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B2724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2B2724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F903A-73C9-4CE0-98D5-B858902C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052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7B786-5454-4F9C-A98D-3E404041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386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結果與追蹤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766FB-53C7-480C-B68C-68B04B26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334000"/>
            <a:ext cx="10820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89BD2-5EEE-4107-9E21-C3044D31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流程圖只描述『順序』；若要表達責任與交付物，請在步驟下方補一行。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D69AD-2FE7-4F33-8CBA-B560FEC2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DD2A9-EFF1-4980-A1F3-CB4CED3E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4C732-E4C3-4D1D-987B-8F969E99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288978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A11CF-69BF-43F9-99FD-D2C1B25D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16  ·  里程碑時間軸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C32A8-F08A-4B50-8C58-5110F61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四個里程碑，交代時間與完成定義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36FD5-BC5A-47A2-8621-E5991146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9090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A09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5BD4F-3B1F-4F42-A268-661C4334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200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6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5BE7D-37AD-4820-9384-E2B0CDAD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09/01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8ADC7-CBB0-4333-A284-925D8AC0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908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需求確認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9C1C3-1D7F-4D06-A4E2-C5344A3B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908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完成範圍與成功指標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1D36C-EEBC-4FDD-A7CE-E96117EF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3200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2EF65-7E9F-41F1-86CE-05AB739B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10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B79A5A"/>
                </a:solidFill>
                <a:latin typeface="Montserrat"/>
                <a:ea typeface="Montserrat"/>
                <a:cs typeface="Montserrat"/>
              </a:rPr>
              <a:t>09/15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CAF74-FDAD-4013-A62A-0C621979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910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原型驗證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3AA23-4601-4902-93EB-D2033B41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完成 5 位使用者測試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7CDF5-851E-4514-96AC-0E9E8445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200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180A9-D96B-44D2-B515-C3B8FE21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47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D0A1A1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D0A1A1"/>
                </a:solidFill>
                <a:latin typeface="Montserrat"/>
                <a:ea typeface="Montserrat"/>
                <a:cs typeface="Montserrat"/>
              </a:rPr>
              <a:t>10/10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A327F-3CB8-49EA-9388-314951B6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小規模上線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6D023-D213-417B-B91E-9C3DD96D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兩個部門開始使用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FF2F8-845A-4505-81AA-BABB4662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200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BF61E-F451-453B-AB99-5D90FC3F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8FA294"/>
                </a:solidFill>
                <a:latin typeface="Montserrat"/>
                <a:ea typeface="Montserrat"/>
                <a:cs typeface="Montserrat"/>
              </a:rPr>
              <a:t>11/01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2353F-DB97-4502-9F6D-E3723CE9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910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擴大導入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94193-45A4-46C5-9971-8270CB42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482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依結果決定下一階段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CBC88-8400-430A-A521-11A0A003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85023-8A37-41BE-AAEF-F9AC22B1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78CAA-B53E-48B3-B934-0549ECBB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561178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8D7C72-4AC8-443B-A72B-57050CA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17  ·  年度路線圖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03CF5-7B08-4F16-B085-31C74794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用季度路線圖對齊工作順序與依賴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3D0DA-6238-4395-9265-70D2454B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Q1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80018-072F-4EB1-9966-4C699101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4790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2C12F-D2DB-4354-B65A-A1942FD9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Q2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A68DB-A30A-4968-8A07-C9E277E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E784A-75B3-4129-AC29-E1BA2E4D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Q3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B7DDC-835D-4303-9749-8ADE8176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48F4C-4C2D-43E6-8195-1647D9C9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8B6464"/>
                </a:solidFill>
                <a:latin typeface="Montserrat"/>
                <a:ea typeface="Montserrat"/>
                <a:cs typeface="Montserrat"/>
              </a:rPr>
              <a:t>Q4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214D9-2E67-4FEF-99D6-2E4EF677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4790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E7FBC-91E9-4A04-B511-3048F829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4790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DFAD1-11A8-4280-A1E7-C58A7034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研究與規劃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0E647-58E6-496D-AD3E-6F655CA3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906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2054A-0700-4E24-AC60-81582373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產品與流程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5CFD3-FFCB-437F-8CD3-452D854E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906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BDBA3-8AED-4280-B86A-28ACA248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推廣與教育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9CCAC-98DA-4B70-A4CD-2A737A2C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91100"/>
            <a:ext cx="906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E56EA-0659-45D1-A67B-209A69D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2590800"/>
            <a:ext cx="374046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D0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E49E7-DDF1-44C0-BC52-D623B632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36271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需求研究｜試點規格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4F81A-6BB7-447E-9408-67473134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3467100"/>
            <a:ext cx="4307205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E56A1-7E0E-41E5-A304-9A806D34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43300"/>
            <a:ext cx="412584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原型、測試與第一階段上線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9F9E3-D08E-4C4A-8A29-E0E48EB5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4343400"/>
            <a:ext cx="362712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8FA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BBCFB-DC31-4F5F-AC5C-8571E46F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9600"/>
            <a:ext cx="34457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教育、推廣與規模化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DE8E3-4C36-4609-B1E3-94CE52F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43550"/>
            <a:ext cx="906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依賴關係｜研究確認後才啟動產品；試點穩定後再推廣。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26667-BCA9-4CD3-B5BA-AF71E839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7A248-0EE9-4EAF-A67E-77D5D730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55F90-C2D6-41AC-8A37-A02D7E66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504569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4CEE90-F69A-4CA3-BFBD-3EFADD3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18  ·  2×2 決策矩陣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00FA6-0F8C-4B6B-A7A2-3F04FD81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先做高效益、低難度的項目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3FEFA-3F3A-4FE8-809E-2A7BB1A0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1790700"/>
            <a:ext cx="2952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FC9E5-29BF-4084-8D46-3177497F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1790700"/>
            <a:ext cx="2952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9D00D-4289-4D18-A8B5-7C5E3F9F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3743325"/>
            <a:ext cx="2952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E1E44-767A-49AA-8476-331C0DBB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743325"/>
            <a:ext cx="2952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841A9-3A13-4DCE-B8C5-5BC82636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433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0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18EE3-8344-48F5-BEC4-750614C3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907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0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85CD5-E0D5-4478-A73B-23EBD134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62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高效益／高難度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分階段投入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032ED-80FB-4FB7-A0BE-B3B8BFD9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高效益／低難度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立即優先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ED63D-F960-492A-A79A-1AA28BC7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147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低效益／高難度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暫緩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C950E-C5FC-4B73-B76B-12BD84EC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147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8FA2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8FA294"/>
                </a:solidFill>
                <a:latin typeface="Noto Sans CJK TC"/>
                <a:ea typeface="Noto Sans CJK TC"/>
                <a:cs typeface="Noto Sans CJK TC"/>
              </a:rPr>
              <a:t>低效益／低難度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8FA2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8FA294"/>
                </a:solidFill>
                <a:latin typeface="Noto Sans CJK TC"/>
                <a:ea typeface="Noto Sans CJK TC"/>
                <a:cs typeface="Noto Sans CJK TC"/>
              </a:rPr>
              <a:t>有餘力再做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19894-486B-4B58-982A-C6A72401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2724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6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2D4F5-3936-4BA5-ADE4-19C562E9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14767-2244-482A-B86D-AF78132F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3295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080F6-5CF2-407B-93F2-2FAE22CD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299CC-899D-4961-8712-C6EBA65D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2990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A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0EB5A-D8F0-45F2-BA58-E0CCF3AA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480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05B34-EE34-4D98-899A-68390E45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4743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2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F091F-4D15-414C-9027-1477479C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006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3B7B2-89B9-481A-934A-3B52F03B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4933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A0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D24DF-B0F7-4DBF-A549-A66B3948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911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549E0B-F655-4421-B231-76B7DAF4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48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高 ← 導入難度 → 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F560A-44FC-4B96-A675-85813057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優先序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F75576-8A1A-4F14-97EE-C92796B3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95550"/>
            <a:ext cx="238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1｜A　立即試行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2｜B　排入下一梯次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3｜C　拆小後再評估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4｜D　低成本維持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5｜E　暫緩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C5AB8-57B7-4C78-9B09-1D347AB0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B81BD-3F9D-4AEF-A715-E142C9B4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D1BCA-B6FD-4866-B9AD-0BEE177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237158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C010F-024F-449B-91F1-672E48EA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19  ·  組織／角色分工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9419F-1E3B-4BDE-BF44-D8293115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3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讓每個角色都知道自己負責哪個結果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97F60-2278-4870-871F-B5222CE2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09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DB56F-2146-4510-9D06-5AE6F397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09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8BBDD-C910-44F4-A4B3-E50F96C3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09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88E67-4B17-43E0-A368-3D957B5D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0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1E0F0-0676-4F3C-B123-C132B40B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909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0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C9278-2B66-4F77-BA32-A332FA43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1809750"/>
            <a:ext cx="30480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8B6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5F242-1889-4335-A7A4-552DB4C3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專案負責人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4E248-53F8-42C4-87AB-107E1037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62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F0DDD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F0DDDC"/>
                </a:solidFill>
                <a:latin typeface="Noto Sans CJK TC"/>
                <a:ea typeface="Noto Sans CJK TC"/>
                <a:cs typeface="Noto Sans CJK TC"/>
              </a:rPr>
              <a:t>目標、資源與最終決策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6D04F-0734-40C4-9183-EAF1F07C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981450"/>
            <a:ext cx="30099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0A1A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59336-CCA5-4930-844D-C6CDCAA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營運／流程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0BD98-5EEE-4757-BBAA-DCECB305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定義需求與驗收標準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4496F-0ECE-45AD-B31D-1CE9F782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3981450"/>
            <a:ext cx="30099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9A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E58FD-874F-40F0-AAF5-68D4B646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910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資料／技術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31BD7-6030-4B99-B9C7-122BA065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482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建置、整合與維運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FD8E5-2EF2-4761-921E-FA8177A7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981450"/>
            <a:ext cx="30099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FA29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780A1-9E9A-4B10-A1BD-6CF798F2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10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品牌／溝通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8E516-D09F-414F-8983-F74B4AD2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482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756E68"/>
                </a:solidFill>
                <a:latin typeface="Noto Sans CJK TC"/>
                <a:ea typeface="Noto Sans CJK TC"/>
                <a:cs typeface="Noto Sans CJK TC"/>
              </a:rPr>
              <a:t>內容、教育與推廣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7DC29-A4E3-4AE9-8EDD-9A3335C6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原則｜角色名稱不等於責任；每個框都要寫出可驗收的結果。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B6EEA-B5E5-401B-B8FF-7B4AB131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DE812-E1FC-4B3F-B4BA-865346CE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7C3A9-1253-4CDB-B3AA-000E1F20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529192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DFA785-5A6B-43C3-9673-9DAEE273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版型 20  ·  行動清單／下一步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58F7D-E7EA-4FF6-81D6-E88ED578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1" i="0">
                <a:solidFill>
                  <a:srgbClr val="2B2724"/>
                </a:solidFill>
                <a:latin typeface="Noto Sans CJK TC"/>
                <a:ea typeface="Noto Sans CJK TC"/>
                <a:cs typeface="Noto Sans CJK TC"/>
              </a:rPr>
              <a:t>會議結束前，把下一步寫成可追蹤承諾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B5E27-809F-4BF6-9BB4-06B8159D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行動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E5E78-8250-4B0A-A1CE-0F2415FF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716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負責人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F5552-7E00-4329-BAA8-32BBFD41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716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期限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15B45-3B91-49C5-9B9E-4359FE5D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狀態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30048-4B10-4100-A992-34184A78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B646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ACFF1-CEAB-4EEB-B86F-70DBCB06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確認試點範圍與成功指標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EA3E6-1602-452B-A99A-274D2C0B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王小明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56E5A-2653-4370-A411-1A363F2A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09/01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EC317-8C52-4B0B-8683-3241B8A8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2362200"/>
            <a:ext cx="10858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9525">
            <a:solidFill>
              <a:srgbClr val="B79A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D4464-A35F-4C79-9898-61CAEC47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098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 i="0">
                <a:solidFill>
                  <a:srgbClr val="B79A5A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B79A5A"/>
                </a:solidFill>
                <a:latin typeface="Noto Sans CJK TC"/>
                <a:ea typeface="Noto Sans CJK TC"/>
                <a:cs typeface="Noto Sans CJK TC"/>
              </a:rPr>
              <a:t>進行中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726BD-DBEE-4C49-B922-87EE458C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1B8E5-50C1-4FAC-B9DD-036DA1FC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完成資料欄位盤點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910C4-6267-4B59-937A-A23789BB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李小華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C710F-9639-4FB7-B339-D6BABF7F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09/05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39C14-4A2A-4383-8BA2-BBA9277D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3067050"/>
            <a:ext cx="10858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A9A09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DEFE2-5409-4D56-8FDB-36F08273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146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 i="0">
                <a:solidFill>
                  <a:srgbClr val="A9A09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A9A097"/>
                </a:solidFill>
                <a:latin typeface="Noto Sans CJK TC"/>
                <a:ea typeface="Noto Sans CJK TC"/>
                <a:cs typeface="Noto Sans CJK TC"/>
              </a:rPr>
              <a:t>待開始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0EA9D-0774-4947-8A4F-E30ED5FE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6FF51-6EDD-48D3-A2F6-6E440EC2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安排 5 位使用者測試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54F87-F398-4CAA-B3E5-6530832F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陳怡君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636FA-48A1-4AF5-8114-BEEAD740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338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09/12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E2281-3567-4A56-8192-36A17F1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3771900"/>
            <a:ext cx="10858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A9A09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3DC46-0305-4D10-B48C-E1BD34FC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195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 i="0">
                <a:solidFill>
                  <a:srgbClr val="A9A09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A9A097"/>
                </a:solidFill>
                <a:latin typeface="Noto Sans CJK TC"/>
                <a:ea typeface="Noto Sans CJK TC"/>
                <a:cs typeface="Noto Sans CJK TC"/>
              </a:rPr>
              <a:t>待開始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F6099-9896-441A-9F8D-8DD3E869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C12892-8573-4EBF-B71D-63C03EE4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彙整結果並提出擴大建議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39A239-5114-43D0-855D-FB4E44BD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3A3531"/>
                </a:solidFill>
                <a:latin typeface="Noto Sans CJK TC"/>
                <a:ea typeface="Noto Sans CJK TC"/>
                <a:cs typeface="Noto Sans CJK TC"/>
              </a:rPr>
              <a:t>專案小組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BB39C1-DA58-4745-B31E-99B532ED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09/20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5C582-978C-4841-A6C4-05828A84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4476750"/>
            <a:ext cx="10858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0A1A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BACB5C-4774-471C-A2E7-0B71C614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5243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 i="0">
                <a:solidFill>
                  <a:srgbClr val="D0A1A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D0A1A1"/>
                </a:solidFill>
                <a:latin typeface="Noto Sans CJK TC"/>
                <a:ea typeface="Noto Sans CJK TC"/>
                <a:cs typeface="Noto Sans CJK TC"/>
              </a:rPr>
              <a:t>未排程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E331D-1493-43F2-A3BD-1EDC23A9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D8A7C-7452-457E-A4A0-7169959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276850"/>
            <a:ext cx="108204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3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1BBD8B-6B2D-4723-8155-85A93401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8B6464"/>
                </a:solidFill>
                <a:latin typeface="Noto Sans CJK TC"/>
                <a:ea typeface="Noto Sans CJK TC"/>
                <a:cs typeface="Noto Sans CJK TC"/>
              </a:rPr>
              <a:t>需要決策｜是否同意 9 月啟動試點？下一次檢視：09/22 主管會議。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031AD0-6B1B-4139-BB43-EF15E39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6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F471C0-2369-42E3-AA86-5DDE205A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[公司名稱]  ｜  內部簡報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7EE5BE-160E-4D49-8B4D-EDA013D2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defRPr>
            </a:pPr>
            <a:r>
              <a:rPr sz="975" b="0" i="0">
                <a:solidFill>
                  <a:srgbClr val="756E68"/>
                </a:solidFill>
                <a:latin typeface="Montserrat"/>
                <a:ea typeface="Montserrat"/>
                <a:cs typeface="Montserra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76126115"/>
      </p:ext>
    </p:extLst>
  </p:cSld>
</p:sld>
</file>

<file path=ppt/theme/theme1.xml><?xml version="1.0" encoding="utf-8"?>
<a:theme xmlns:a="http://schemas.openxmlformats.org/drawingml/2006/main" name="ChatGPT">
  <a:themeElements>
    <a:clrScheme name="Pearl &amp; Gold Corporate">
      <a:dk1>
        <a:srgbClr val="000000"/>
      </a:dk1>
      <a:lt1>
        <a:srgbClr val="FFFFFF"/>
      </a:lt1>
      <a:dk2>
        <a:srgbClr val="2B2724"/>
      </a:dk2>
      <a:lt2>
        <a:srgbClr val="EAE1D7"/>
      </a:lt2>
      <a:accent1>
        <a:srgbClr val="8B6464"/>
      </a:accent1>
      <a:accent2>
        <a:srgbClr val="B79A5A"/>
      </a:accent2>
      <a:accent3>
        <a:srgbClr val="D0A1A1"/>
      </a:accent3>
      <a:accent4>
        <a:srgbClr val="8FA294"/>
      </a:accent4>
      <a:accent5>
        <a:srgbClr val="2B2724"/>
      </a:accent5>
      <a:accent6>
        <a:srgbClr val="D8C59A"/>
      </a:accent6>
      <a:hlink>
        <a:srgbClr val="8B6464"/>
      </a:hlink>
      <a:folHlink>
        <a:srgbClr val="D0A1A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arl &amp; Gold Corpor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2026-08-22T07:49:16.8570000Z</dcterms:created>
  <dcterms:modified xsi:type="dcterms:W3CDTF">2026-08-22T07:49:16.8570000Z</dcterms:modified>
</coreProperties>
</file>