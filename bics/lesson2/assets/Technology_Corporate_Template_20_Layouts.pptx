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6420c7c374b0e" /><Relationship Type="http://schemas.openxmlformats.org/officeDocument/2006/relationships/extended-properties" Target="/docProps/app.xml" Id="Rddee50117e1c4b52" /><Relationship Type="http://schemas.openxmlformats.org/officeDocument/2006/relationships/officeDocument" Target="/ppt/presentation.xml" Id="Rd764d8b3f9ff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3c35600824956"/>
  </p:sldMasterIdLst>
  <p:notesMasterIdLst>
    <p:notesMasterId xmlns:r="http://schemas.openxmlformats.org/officeDocument/2006/relationships" r:id="R7c1f6b5ae68441b2"/>
  </p:notesMasterIdLst>
  <p:sldIdLst>
    <p:sldId xmlns:r="http://schemas.openxmlformats.org/officeDocument/2006/relationships" id="256" r:id="R276d6d6533e246d5"/>
    <p:sldId xmlns:r="http://schemas.openxmlformats.org/officeDocument/2006/relationships" id="257" r:id="Re1c70f33175f472c"/>
    <p:sldId xmlns:r="http://schemas.openxmlformats.org/officeDocument/2006/relationships" id="258" r:id="Raad0d1e8c5434333"/>
    <p:sldId xmlns:r="http://schemas.openxmlformats.org/officeDocument/2006/relationships" id="259" r:id="R82880544f6174717"/>
    <p:sldId xmlns:r="http://schemas.openxmlformats.org/officeDocument/2006/relationships" id="260" r:id="R4c7a8c6be8304de3"/>
    <p:sldId xmlns:r="http://schemas.openxmlformats.org/officeDocument/2006/relationships" id="261" r:id="Rc4da2445f1514bce"/>
    <p:sldId xmlns:r="http://schemas.openxmlformats.org/officeDocument/2006/relationships" id="262" r:id="Rad6060e0cff34c37"/>
    <p:sldId xmlns:r="http://schemas.openxmlformats.org/officeDocument/2006/relationships" id="263" r:id="R33830b0ec7e14f79"/>
    <p:sldId xmlns:r="http://schemas.openxmlformats.org/officeDocument/2006/relationships" id="264" r:id="Rdff0c2f312184dbd"/>
    <p:sldId xmlns:r="http://schemas.openxmlformats.org/officeDocument/2006/relationships" id="265" r:id="Rd07a2c6de27144ad"/>
    <p:sldId xmlns:r="http://schemas.openxmlformats.org/officeDocument/2006/relationships" id="266" r:id="R4fb373dd29e84537"/>
    <p:sldId xmlns:r="http://schemas.openxmlformats.org/officeDocument/2006/relationships" id="267" r:id="R8d53340af5ee4002"/>
    <p:sldId xmlns:r="http://schemas.openxmlformats.org/officeDocument/2006/relationships" id="268" r:id="R2503eb7dbd2f46eb"/>
    <p:sldId xmlns:r="http://schemas.openxmlformats.org/officeDocument/2006/relationships" id="269" r:id="R608590386afe46e3"/>
    <p:sldId xmlns:r="http://schemas.openxmlformats.org/officeDocument/2006/relationships" id="270" r:id="R7ce82fb193d04838"/>
    <p:sldId xmlns:r="http://schemas.openxmlformats.org/officeDocument/2006/relationships" id="271" r:id="Re2ce394c07614195"/>
    <p:sldId xmlns:r="http://schemas.openxmlformats.org/officeDocument/2006/relationships" id="272" r:id="Re1b206ed93c04540"/>
    <p:sldId xmlns:r="http://schemas.openxmlformats.org/officeDocument/2006/relationships" id="273" r:id="R6651468a981b4d80"/>
    <p:sldId xmlns:r="http://schemas.openxmlformats.org/officeDocument/2006/relationships" id="274" r:id="R8e593b3b31d74c87"/>
    <p:sldId xmlns:r="http://schemas.openxmlformats.org/officeDocument/2006/relationships" id="275" r:id="R4854c03c51be43cf"/>
    <p:sldId xmlns:r="http://schemas.openxmlformats.org/officeDocument/2006/relationships" id="276" r:id="Rdb72c557c68b4b15"/>
    <p:sldId xmlns:r="http://schemas.openxmlformats.org/officeDocument/2006/relationships" id="277" r:id="R6ca739706e484200"/>
    <p:sldId xmlns:r="http://schemas.openxmlformats.org/officeDocument/2006/relationships" id="278" r:id="Rffadc90cfdfb4f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c9a12f2864699" /><Relationship Type="http://schemas.openxmlformats.org/officeDocument/2006/relationships/slideMaster" Target="/ppt/slideMasters/slideMaster1.xml" Id="Rd0e3c35600824956" /><Relationship Type="http://schemas.openxmlformats.org/officeDocument/2006/relationships/notesMaster" Target="/ppt/notesMasters/notesMaster1.xml" Id="R7c1f6b5ae68441b2" /><Relationship Type="http://schemas.openxmlformats.org/officeDocument/2006/relationships/presProps" Target="/ppt/presProps.xml" Id="R809848fe0c2c4884" /><Relationship Type="http://schemas.openxmlformats.org/officeDocument/2006/relationships/tableStyles" Target="/ppt/tableStyles.xml" Id="Rb93745da73a04eae" /><Relationship Type="http://schemas.openxmlformats.org/officeDocument/2006/relationships/slide" Target="/ppt/slides/slide1.xml" Id="R276d6d6533e246d5" /><Relationship Type="http://schemas.openxmlformats.org/officeDocument/2006/relationships/slide" Target="/ppt/slides/slide2.xml" Id="Re1c70f33175f472c" /><Relationship Type="http://schemas.openxmlformats.org/officeDocument/2006/relationships/slide" Target="/ppt/slides/slide3.xml" Id="Raad0d1e8c5434333" /><Relationship Type="http://schemas.openxmlformats.org/officeDocument/2006/relationships/slide" Target="/ppt/slides/slide4.xml" Id="R82880544f6174717" /><Relationship Type="http://schemas.openxmlformats.org/officeDocument/2006/relationships/slide" Target="/ppt/slides/slide5.xml" Id="R4c7a8c6be8304de3" /><Relationship Type="http://schemas.openxmlformats.org/officeDocument/2006/relationships/slide" Target="/ppt/slides/slide6.xml" Id="Rc4da2445f1514bce" /><Relationship Type="http://schemas.openxmlformats.org/officeDocument/2006/relationships/slide" Target="/ppt/slides/slide7.xml" Id="Rad6060e0cff34c37" /><Relationship Type="http://schemas.openxmlformats.org/officeDocument/2006/relationships/slide" Target="/ppt/slides/slide8.xml" Id="R33830b0ec7e14f79" /><Relationship Type="http://schemas.openxmlformats.org/officeDocument/2006/relationships/slide" Target="/ppt/slides/slide9.xml" Id="Rdff0c2f312184dbd" /><Relationship Type="http://schemas.openxmlformats.org/officeDocument/2006/relationships/slide" Target="/ppt/slides/slide10.xml" Id="Rd07a2c6de27144ad" /><Relationship Type="http://schemas.openxmlformats.org/officeDocument/2006/relationships/slide" Target="/ppt/slides/slide11.xml" Id="R4fb373dd29e84537" /><Relationship Type="http://schemas.openxmlformats.org/officeDocument/2006/relationships/slide" Target="/ppt/slides/slide12.xml" Id="R8d53340af5ee4002" /><Relationship Type="http://schemas.openxmlformats.org/officeDocument/2006/relationships/slide" Target="/ppt/slides/slide13.xml" Id="R2503eb7dbd2f46eb" /><Relationship Type="http://schemas.openxmlformats.org/officeDocument/2006/relationships/slide" Target="/ppt/slides/slide14.xml" Id="R608590386afe46e3" /><Relationship Type="http://schemas.openxmlformats.org/officeDocument/2006/relationships/slide" Target="/ppt/slides/slide15.xml" Id="R7ce82fb193d04838" /><Relationship Type="http://schemas.openxmlformats.org/officeDocument/2006/relationships/slide" Target="/ppt/slides/slide16.xml" Id="Re2ce394c07614195" /><Relationship Type="http://schemas.openxmlformats.org/officeDocument/2006/relationships/slide" Target="/ppt/slides/slide17.xml" Id="Re1b206ed93c04540" /><Relationship Type="http://schemas.openxmlformats.org/officeDocument/2006/relationships/slide" Target="/ppt/slides/slide18.xml" Id="R6651468a981b4d80" /><Relationship Type="http://schemas.openxmlformats.org/officeDocument/2006/relationships/slide" Target="/ppt/slides/slide19.xml" Id="R8e593b3b31d74c87" /><Relationship Type="http://schemas.openxmlformats.org/officeDocument/2006/relationships/slide" Target="/ppt/slides/slide20.xml" Id="R4854c03c51be43cf" /><Relationship Type="http://schemas.openxmlformats.org/officeDocument/2006/relationships/slide" Target="/ppt/slides/slide21.xml" Id="Rdb72c557c68b4b15" /><Relationship Type="http://schemas.openxmlformats.org/officeDocument/2006/relationships/slide" Target="/ppt/slides/slide22.xml" Id="R6ca739706e484200" /><Relationship Type="http://schemas.openxmlformats.org/officeDocument/2006/relationships/slide" Target="/ppt/slides/slide23.xml" Id="Rffadc90cfdfb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3a5e1a0a4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ad2bad42a469a" /><Relationship Type="http://schemas.openxmlformats.org/officeDocument/2006/relationships/notesMaster" Target="/ppt/notesMasters/notesMaster1.xml" Id="R65dbeb14481645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374fd12cc546a2" /><Relationship Type="http://schemas.openxmlformats.org/officeDocument/2006/relationships/notesMaster" Target="/ppt/notesMasters/notesMaster1.xml" Id="R9e3521fa290642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2008f079d4a30" /><Relationship Type="http://schemas.openxmlformats.org/officeDocument/2006/relationships/notesMaster" Target="/ppt/notesMasters/notesMaster1.xml" Id="Rd31760b0ea0b40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d7ccbfbd244ccb" /><Relationship Type="http://schemas.openxmlformats.org/officeDocument/2006/relationships/notesMaster" Target="/ppt/notesMasters/notesMaster1.xml" Id="Rc091fded7782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ae330dbc74dca" /><Relationship Type="http://schemas.openxmlformats.org/officeDocument/2006/relationships/notesMaster" Target="/ppt/notesMasters/notesMaster1.xml" Id="R90cb857407a5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61e3dff5dc444f" /><Relationship Type="http://schemas.openxmlformats.org/officeDocument/2006/relationships/notesMaster" Target="/ppt/notesMasters/notesMaster1.xml" Id="Ra24948e376e3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99868f9f0e422d" /><Relationship Type="http://schemas.openxmlformats.org/officeDocument/2006/relationships/notesMaster" Target="/ppt/notesMasters/notesMaster1.xml" Id="Rd60b5dac1b9b48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e821ae2c1e4eb6" /><Relationship Type="http://schemas.openxmlformats.org/officeDocument/2006/relationships/notesMaster" Target="/ppt/notesMasters/notesMaster1.xml" Id="Rf0d16ac1ec8147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1f48416c14784" /><Relationship Type="http://schemas.openxmlformats.org/officeDocument/2006/relationships/notesMaster" Target="/ppt/notesMasters/notesMaster1.xml" Id="R208d9d494d274a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d1e0839e1c48ff" /><Relationship Type="http://schemas.openxmlformats.org/officeDocument/2006/relationships/notesMaster" Target="/ppt/notesMasters/notesMaster1.xml" Id="R443cbc341d4d47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dbcd18117c4f92" /><Relationship Type="http://schemas.openxmlformats.org/officeDocument/2006/relationships/notesMaster" Target="/ppt/notesMasters/notesMaster1.xml" Id="R85b88acac0a941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0a283295c14b58" /><Relationship Type="http://schemas.openxmlformats.org/officeDocument/2006/relationships/notesMaster" Target="/ppt/notesMasters/notesMaster1.xml" Id="R9ce491eeb07145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4f5d92fde4c1a" /><Relationship Type="http://schemas.openxmlformats.org/officeDocument/2006/relationships/notesMaster" Target="/ppt/notesMasters/notesMaster1.xml" Id="R71f15fb6017848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c3ee612f884cba" /><Relationship Type="http://schemas.openxmlformats.org/officeDocument/2006/relationships/notesMaster" Target="/ppt/notesMasters/notesMaster1.xml" Id="Ra744e5a0ece844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4c38b8eafe4c07" /><Relationship Type="http://schemas.openxmlformats.org/officeDocument/2006/relationships/notesMaster" Target="/ppt/notesMasters/notesMaster1.xml" Id="R62af5b310c7f42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3202cee8214c6d" /><Relationship Type="http://schemas.openxmlformats.org/officeDocument/2006/relationships/notesMaster" Target="/ppt/notesMasters/notesMaster1.xml" Id="R0ef5683921054b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29c7d433b44e97" /><Relationship Type="http://schemas.openxmlformats.org/officeDocument/2006/relationships/notesMaster" Target="/ppt/notesMasters/notesMaster1.xml" Id="R947a3e60966748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be5c3d1c8e4128" /><Relationship Type="http://schemas.openxmlformats.org/officeDocument/2006/relationships/notesMaster" Target="/ppt/notesMasters/notesMaster1.xml" Id="R5226e63fb3834d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d253221ff04718" /><Relationship Type="http://schemas.openxmlformats.org/officeDocument/2006/relationships/notesMaster" Target="/ppt/notesMasters/notesMaster1.xml" Id="Rdb77736fb25048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792ff11885497b" /><Relationship Type="http://schemas.openxmlformats.org/officeDocument/2006/relationships/notesMaster" Target="/ppt/notesMasters/notesMaster1.xml" Id="R51ed0ab3a9a546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9b06b64f044569" /><Relationship Type="http://schemas.openxmlformats.org/officeDocument/2006/relationships/notesMaster" Target="/ppt/notesMasters/notesMaster1.xml" Id="R1112b5a753ca45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133e648ef343d6" /><Relationship Type="http://schemas.openxmlformats.org/officeDocument/2006/relationships/notesMaster" Target="/ppt/notesMasters/notesMaster1.xml" Id="R2c34cf0822e14d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50f0952d474b8b" /><Relationship Type="http://schemas.openxmlformats.org/officeDocument/2006/relationships/notesMaster" Target="/ppt/notesMasters/notesMaster1.xml" Id="Rdc1948f2b1194b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封面版型：適用於企業提案、科技產品、內部策略與培訓簡報。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設計規範頁：用來說明色彩、字型與全份使用原則。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索引頁：快速挑選符合內容關係的頁型，可按需求重複使用。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01｜議程導覽：適合會議開場、課程章節或提案結構。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02｜章節開場：用於換章、觀點轉折或建立新的討論層級。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03｜三大支柱：適合三項策略、能力、優勢或課程模組。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04｜觀點轉場：適合關鍵結論、引言或章節中段停頓。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05｜圖文敘事：適用於產品介紹、案例、功能與服務價值。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06｜滿版主視覺：適合願景、場景、品牌情緒或真實證據照片。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07｜雙欄比較：方案、前後、產品或選擇評估；兩欄須採相同維度。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08｜功能亮點：適合三項產品功能、服務優勢或價值主張。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09｜KPI 摘要：適合成效、營運、產品或專案健康度。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10｜趨勢折線：適合時間序列、成長、採用率或品質變化。圖中為示意數據。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11｜排名長條：適合比較多個類別，排序後呈現差距。圖中為示意數據。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12｜占比圓環：適合 3–5 個構成項目；避免類別過多。圖中為示意數據。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13｜資料表格：3–4 欄、4–6 列為佳；欄位使用相同比較維度。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14｜五步驟流程：適合方法論、導入流程、體驗或操作步驟。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15｜里程碑時間軸：適合專案事件、發布節點與成果紀錄。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16｜季度路線圖：適合 3–5 條工作流，呈現平行與接續關係。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17｜2×2 決策矩陣：只使用兩個可解釋、可衡量的維度。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18｜組織架構：適合治理模式、團隊分工與責任關係。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19｜會議議程：適合工作坊、提案會議與內部同步。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版型 20｜下一步行動：全份只保留一個主要 CTA，替換為真實聯絡方式或會議行動。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deck: Corporate_Presentation_Template_20_Layouts(2).pptx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31dd8991b4a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ef9539f174ba1" /><Relationship Type="http://schemas.openxmlformats.org/officeDocument/2006/relationships/slideLayout" Target="/ppt/slideLayouts/slideLayout1.xml" Id="R85135cb45165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135cb45165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814f8fc94840" /><Relationship Type="http://schemas.openxmlformats.org/officeDocument/2006/relationships/notesSlide" Target="/ppt/notesSlides/notesSlide1.xml" Id="R16ef2b3f3f7a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b92e047ec4aa5" /><Relationship Type="http://schemas.openxmlformats.org/officeDocument/2006/relationships/notesSlide" Target="/ppt/notesSlides/notesSlide2.xml" Id="R7ffe869717374e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33c4016da4416" /><Relationship Type="http://schemas.openxmlformats.org/officeDocument/2006/relationships/notesSlide" Target="/ppt/notesSlides/notesSlide3.xml" Id="R226ab2a451de48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897be5ec44874" /><Relationship Type="http://schemas.openxmlformats.org/officeDocument/2006/relationships/notesSlide" Target="/ppt/notesSlides/notesSlide4.xml" Id="Raccb5c3584cc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706583a9a4907" /><Relationship Type="http://schemas.openxmlformats.org/officeDocument/2006/relationships/notesSlide" Target="/ppt/notesSlides/notesSlide5.xml" Id="R4a2cf3209c7f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614a636d04a53" /><Relationship Type="http://schemas.openxmlformats.org/officeDocument/2006/relationships/notesSlide" Target="/ppt/notesSlides/notesSlide6.xml" Id="Rd23ff762404843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74728fbf40a3" /><Relationship Type="http://schemas.openxmlformats.org/officeDocument/2006/relationships/notesSlide" Target="/ppt/notesSlides/notesSlide7.xml" Id="R637631ebedbd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dfd112e13434a" /><Relationship Type="http://schemas.openxmlformats.org/officeDocument/2006/relationships/notesSlide" Target="/ppt/notesSlides/notesSlide8.xml" Id="Re7fe8c5629fe47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798cf32a14e9f" /><Relationship Type="http://schemas.openxmlformats.org/officeDocument/2006/relationships/notesSlide" Target="/ppt/notesSlides/notesSlide9.xml" Id="R413f62ded97d4a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c48d0c6754794" /><Relationship Type="http://schemas.openxmlformats.org/officeDocument/2006/relationships/notesSlide" Target="/ppt/notesSlides/notesSlide10.xml" Id="R2c88512d6b5543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5e0706f8049d9" /><Relationship Type="http://schemas.openxmlformats.org/officeDocument/2006/relationships/notesSlide" Target="/ppt/notesSlides/notesSlide11.xml" Id="Ref317fc99e0940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dab6a0aba40fd" /><Relationship Type="http://schemas.openxmlformats.org/officeDocument/2006/relationships/notesSlide" Target="/ppt/notesSlides/notesSlide12.xml" Id="R0a6972cfd82d45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75986d30742ad" /><Relationship Type="http://schemas.openxmlformats.org/officeDocument/2006/relationships/chart" Target="/ppt/slides/charts/chart1.xml" Id="R6202c521686d41f8" /><Relationship Type="http://schemas.openxmlformats.org/officeDocument/2006/relationships/notesSlide" Target="/ppt/notesSlides/notesSlide13.xml" Id="R8f974d7ed56b4e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79024372491f" /><Relationship Type="http://schemas.openxmlformats.org/officeDocument/2006/relationships/chart" Target="/ppt/slides/charts/chart2.xml" Id="R3cedb6cabb654066" /><Relationship Type="http://schemas.openxmlformats.org/officeDocument/2006/relationships/notesSlide" Target="/ppt/notesSlides/notesSlide14.xml" Id="R9cc3f077236b44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9eaf4e2d84395" /><Relationship Type="http://schemas.openxmlformats.org/officeDocument/2006/relationships/chart" Target="/ppt/slides/charts/chart3.xml" Id="R3b5ab46fe5ff4f81" /><Relationship Type="http://schemas.openxmlformats.org/officeDocument/2006/relationships/notesSlide" Target="/ppt/notesSlides/notesSlide15.xml" Id="Rb27d4034424843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235f394c4aa4" /><Relationship Type="http://schemas.openxmlformats.org/officeDocument/2006/relationships/notesSlide" Target="/ppt/notesSlides/notesSlide16.xml" Id="Rc36dfc5241034a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0448b75994366" /><Relationship Type="http://schemas.openxmlformats.org/officeDocument/2006/relationships/notesSlide" Target="/ppt/notesSlides/notesSlide17.xml" Id="R32a9a358724147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a57a973fb41d3" /><Relationship Type="http://schemas.openxmlformats.org/officeDocument/2006/relationships/notesSlide" Target="/ppt/notesSlides/notesSlide18.xml" Id="R240704cc4a7144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524a44194de8" /><Relationship Type="http://schemas.openxmlformats.org/officeDocument/2006/relationships/notesSlide" Target="/ppt/notesSlides/notesSlide19.xml" Id="Rce5584ee4ef64e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fe585f4054e0c" /><Relationship Type="http://schemas.openxmlformats.org/officeDocument/2006/relationships/notesSlide" Target="/ppt/notesSlides/notesSlide20.xml" Id="R484b67f0ffb64e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709fe4eba452c" /><Relationship Type="http://schemas.openxmlformats.org/officeDocument/2006/relationships/notesSlide" Target="/ppt/notesSlides/notesSlide21.xml" Id="Ra77093c0509142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03baf37234ba4" /><Relationship Type="http://schemas.openxmlformats.org/officeDocument/2006/relationships/notesSlide" Target="/ppt/notesSlides/notesSlide22.xml" Id="Re044181f3fd845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130d812cf4d84" /><Relationship Type="http://schemas.openxmlformats.org/officeDocument/2006/relationships/notesSlide" Target="/ppt/notesSlides/notesSlide23.xml" Id="R63f08b7cf42c475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採用率</c:v>
          </c:tx>
          <c:spPr>
            <a:ln xmlns:a="http://schemas.openxmlformats.org/drawingml/2006/main" w="38100">
              <a:solidFill>
                <a:srgbClr val="30DDF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0DDF2"/>
              </a:solidFill>
            </c:spPr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42</c:v>
              </c:pt>
              <c:pt idx="1">
                <c:v>48</c:v>
              </c:pt>
              <c:pt idx="2">
                <c:v>55</c:v>
              </c:pt>
              <c:pt idx="3">
                <c:v>61</c:v>
              </c:pt>
              <c:pt idx="4">
                <c:v>73</c:v>
              </c:pt>
              <c:pt idx="5">
                <c:v>82</c:v>
              </c:pt>
            </c:numLit>
          </c:val>
        </c:ser>
        <c:ser>
          <c:idx val="1"/>
          <c:order val="1"/>
          <c:tx>
            <c:v>基準</c:v>
          </c:tx>
          <c:spPr>
            <a:ln xmlns:a="http://schemas.openxmlformats.org/drawingml/2006/main" w="28575">
              <a:solidFill>
                <a:srgbClr val="7C6CFF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40</c:v>
              </c:pt>
              <c:pt idx="1">
                <c:v>44</c:v>
              </c:pt>
              <c:pt idx="2">
                <c:v>48</c:v>
              </c:pt>
              <c:pt idx="3">
                <c:v>54</c:v>
              </c:pt>
              <c:pt idx="4">
                <c:v>59</c:v>
              </c:pt>
              <c:pt idx="5">
                <c:v>64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0849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0849A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70849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貢獻</c:v>
          </c:tx>
          <c:spPr>
            <a:solidFill xmlns:a="http://schemas.openxmlformats.org/drawingml/2006/main">
              <a:srgbClr val="3E8C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DDF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6C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E4B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EA2B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9D5E0"/>
              </a:solidFill>
            </c:spPr>
          </c:dPt>
          <c:cat>
            <c:strLit>
              <c:ptCount val="5"/>
              <c:pt idx="0">
                <c:v>核心產品</c:v>
              </c:pt>
              <c:pt idx="1">
                <c:v>企業服務</c:v>
              </c:pt>
              <c:pt idx="2">
                <c:v>夥伴通路</c:v>
              </c:pt>
              <c:pt idx="3">
                <c:v>教育訓練</c:v>
              </c:pt>
              <c:pt idx="4">
                <c:v>其他</c:v>
              </c:pt>
            </c:strLit>
          </c:cat>
          <c:val>
            <c:numLit>
              <c:formatCode>General</c:formatCode>
              <c:ptCount val="5"/>
              <c:pt idx="0">
                <c:v>82</c:v>
              </c:pt>
              <c:pt idx="1">
                <c:v>71</c:v>
              </c:pt>
              <c:pt idx="2">
                <c:v>63</c:v>
              </c:pt>
              <c:pt idx="3">
                <c:v>42</c:v>
              </c:pt>
              <c:pt idx="4">
                <c:v>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2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3223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30DDF2"/>
              </a:solidFill>
            </c:spPr>
          </c:dPt>
          <c:dPt>
            <c:idx val="1"/>
            <c:spPr>
              <a:solidFill xmlns:a="http://schemas.openxmlformats.org/drawingml/2006/main">
                <a:srgbClr val="7C6CFF"/>
              </a:solidFill>
            </c:spPr>
          </c:dPt>
          <c:dPt>
            <c:idx val="2"/>
            <c:spPr>
              <a:solidFill xmlns:a="http://schemas.openxmlformats.org/drawingml/2006/main">
                <a:srgbClr val="73E4BE"/>
              </a:solidFill>
            </c:spPr>
          </c:dPt>
          <c:dPt>
            <c:idx val="3"/>
            <c:spPr>
              <a:solidFill xmlns:a="http://schemas.openxmlformats.org/drawingml/2006/main">
                <a:srgbClr val="C9D5E0"/>
              </a:solidFill>
            </c:spPr>
          </c:dPt>
          <c:cat>
            <c:strLit>
              <c:ptCount val="4"/>
              <c:pt idx="0">
                <c:v>核心產品</c:v>
              </c:pt>
              <c:pt idx="1">
                <c:v>企業服務</c:v>
              </c:pt>
              <c:pt idx="2">
                <c:v>夥伴通路</c:v>
              </c:pt>
              <c:pt idx="3">
                <c:v>其他</c:v>
              </c:pt>
            </c:strLit>
          </c:cat>
          <c:val>
            <c:numLit>
              <c:formatCode>General</c:formatCode>
              <c:ptCount val="4"/>
              <c:pt idx="0">
                <c:v>52</c:v>
              </c:pt>
              <c:pt idx="1">
                <c:v>24</c:v>
              </c:pt>
              <c:pt idx="2">
                <c:v>16</c:v>
              </c:pt>
              <c:pt idx="3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32238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8"/>
      </c:doughnutChart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15986-A6B1-4091-B918-2542D878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48288-6EEB-4BEE-9FB5-B633039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415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44893-403C-4D62-808B-23CBB1F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062C-A239-4920-B33A-600012A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77FEC-C710-4461-9111-81FCE34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4C80D-A2AD-434F-8F8B-298F5777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CFB93-BE86-48F3-9426-5ABDDEE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EE943-D686-452C-94FE-4EF5D20F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A4DC4-5598-4E29-9E89-EA5E5640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B6BF8-BCAD-4461-A29C-215E75C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1091E-3246-443D-A003-4F31B46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620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65049-78D7-4760-9BD8-CF8C819A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478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86285-4D71-4387-A7EB-6FA4731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651D4-F144-4EDE-8AAC-0644890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92451-DE64-42B9-8FD0-AF58E37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5452-C25F-4BCE-A643-61BF5CF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335B9-CFC5-41E7-87BA-374E771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CD693-782D-40D4-ABC6-3D4356A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1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0B42B-A00E-4DE3-A240-05AB037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324100" cy="232410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102B40"/>
          </a:solidFill>
          <a:ln xmlns:a="http://schemas.openxmlformats.org/drawingml/2006/main" w="9525">
            <a:solidFill>
              <a:srgbClr val="2E51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F5C7B-65C1-41DC-B0A9-ADEF1F84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66850"/>
            <a:ext cx="1485900" cy="148590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142F4A"/>
          </a:solidFill>
          <a:ln xmlns:a="http://schemas.openxmlformats.org/drawingml/2006/main" w="9525">
            <a:solidFill>
              <a:srgbClr val="30DD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03138-10D1-4992-9251-2AC2CC8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47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A54EF-A06C-4F54-B09D-E426754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57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535FF-8DE6-4ED7-942F-4D748D6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4C5DF-2D5C-4992-A68F-274D437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20 EDITABLE LAYOUTS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A3938-9E48-45FE-BFC9-C723338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9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科技企業簡報範本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12F22-E889-4C7E-9724-CCDF4AE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Technology Corporate Presentation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ED689-C69C-4F61-BEE8-3D213DC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用於企業介紹、產品提案、內部培訓與策略彙報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54628-07BA-40DD-8504-441C593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9A341-6F14-45B0-8A89-01B6171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9A1B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9A1B7"/>
                </a:solidFill>
                <a:latin typeface="Noto Sans CJK TC"/>
                <a:ea typeface="Noto Sans CJK TC"/>
                <a:cs typeface="Noto Sans CJK TC"/>
              </a:rPr>
              <a:t>深色精密感 × 清楚資訊層級 × 可編輯圖表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0058A-454D-4AC0-841D-20DF797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27C9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627C93"/>
                </a:solidFill>
                <a:latin typeface="Noto Sans CJK TC"/>
                <a:ea typeface="Noto Sans CJK TC"/>
                <a:cs typeface="Noto Sans CJK TC"/>
              </a:rPr>
              <a:t>16:9  |  Traditional Chinese Ready</a:t>
            </a:r>
          </a:p>
        </p:txBody>
      </p:sp>
    </p:spTree>
    <p:extLst>
      <p:ext uri="{BB962C8B-B14F-4D97-AF65-F5344CB8AC3E}">
        <p14:creationId xmlns:p14="http://schemas.microsoft.com/office/powerpoint/2010/main" val="1554053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5E841F-673E-4E55-B55A-81F3B733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268E-8E3F-42A2-A032-CDEA7E2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31EC33-5D0F-420D-8C29-9BC60C2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一套能跨情境延伸的科技視覺系統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68895-337B-44E5-8AEF-25156DD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CA442-9702-46E8-B326-51B49286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8DDAB-6DF8-4CF7-A64A-6A1562A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4D5C3-48D2-415D-8235-D8EA66A1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56101-B69A-415E-A0FA-883256B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A2923-0E59-4139-A659-B574403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76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599A2-FF85-4258-B7AD-E07A8492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07111F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26688-8885-47E3-A354-F8927489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33600"/>
            <a:ext cx="876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C3396-3638-4F7B-BE97-54A46AF5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95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3E8CFF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BC032-45C4-416A-9D10-7B59257A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33600"/>
            <a:ext cx="876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C4629-6C81-4901-8707-9B71A2E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30DDF2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496D7-8204-4197-813D-ACB7E41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876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1707D-CB58-4F68-BCAF-25F8D80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7C6CFF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8AC13-7EDE-4F09-A617-5ED25C55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876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2208F-54EA-4052-BDCA-4ACB5927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73E4BE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941D5-EDCA-4B94-A9DE-1CC278D6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TYPOGRAPHY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BE2F7-B538-4E37-9905-85A5CA5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科技決策需要清楚層級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0F2A1-BBEB-4C27-B6D6-AA2A698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Noto Sans CJK TC · 內文保持 18–24 pt 的閱讀餘裕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559D9-B689-4293-BBFA-DA9407F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52600"/>
            <a:ext cx="48577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82A13-E012-4473-8C86-5BDDD11B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C5FBD-5638-4CCD-9538-87392C57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DESIGN PRINCIPLES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39C13-C156-4B51-ADE0-A73934FA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A3162-2FE7-470B-8550-E2A607E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冷靜精準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28C73-3959-43E6-971C-D60135B8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rPr>
              <a:t>深色基底與高亮色只負責導引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17205-66EE-4972-AAD0-D521D4A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8E438-BBB4-45DA-828B-4876562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D0486-6BD4-4F13-BB33-B6D71676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模組彈性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8DF59-040B-48E0-A7AE-2E7518CE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rPr>
              <a:t>版型依內容關係切換，不硬套卡片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2C8CE-55DC-46BF-AF7D-682A500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B3C9D3-1605-4513-B6F6-CC799CDA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059FD-D7F8-4E3D-A7FA-7D2937F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繁中可讀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BFFC03-D74C-41EC-AEF2-006A4FD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92A9BE"/>
                </a:solidFill>
                <a:latin typeface="Noto Sans CJK TC"/>
                <a:ea typeface="Noto Sans CJK TC"/>
                <a:cs typeface="Noto Sans CJK TC"/>
              </a:rPr>
              <a:t>主標明確、內文保留換行與字寬餘裕</a:t>
            </a:r>
          </a:p>
        </p:txBody>
      </p:sp>
    </p:spTree>
    <p:extLst>
      <p:ext uri="{BB962C8B-B14F-4D97-AF65-F5344CB8AC3E}">
        <p14:creationId xmlns:p14="http://schemas.microsoft.com/office/powerpoint/2010/main" val="784906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F507CE-1A22-4ED6-9A6F-EB2BA659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43A0-0931-46A3-8BBB-15B00E0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E4DCD5-2E46-41B7-9260-193E1E4A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20 種頁型，涵蓋敘事、數據、流程與決策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F07D3-68A9-4992-87C2-A86C5556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230DE-678F-4D64-A275-733CD882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ED83-37F4-4FA8-BA38-7524C6A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B9E56-2A66-4B6E-AEA9-C978F31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2408C-16D0-4523-8C4C-6D6DE89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54601-786E-4AC9-B892-AF8D93D1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議程導覽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BE5D9-5F6B-4D37-B318-11F96D01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5627E-438E-4ECB-97D6-7090BC6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60BC5-C64B-4E16-A1DF-3F66833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章節開場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4632D-14B7-49B1-818B-5CC6DE5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46BCC-C7E9-43D3-A7F8-1AE649F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4C2C8-3C95-4A29-BD35-E6434554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三大支柱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FBC58-18E8-4B80-800E-B57D34C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9FB2D-5CC7-46E4-9C32-FBD629D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A152C-0780-4617-906C-507C5AA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觀點轉場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332F0-4848-4FE0-88AF-0EEACB5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644C6-D4A8-4903-9991-26057F98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150F3-648F-4DDD-8435-53399689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圖文敘事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B7946-5837-4AAB-B0CB-30027AA8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5A6CA-0A89-4DCE-A2C2-8F4DA5C3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D7AB7-8ECF-4442-A871-BD116788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滿版主視覺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A80DF-79C2-40A5-B7F8-033B1F7E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A8386-3AC1-4EDA-86D3-70B9A1A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005C2-5861-4AF8-99DF-50A0B47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雙欄比較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518A3-95C8-479A-9642-65C5DEFE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0A4F06-D6E3-4965-B489-D0DF8409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B24DC-F4E6-492A-A028-7394F41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功能亮點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2343A-99A0-451D-A134-50AD6AFA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D870A-5291-43A1-ACC2-2B668EB4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8DBFC-0F10-497B-AE6E-9BDDCC7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KPI 摘要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1F2DE-74F3-4708-BF95-B7B639F0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14293-088C-47E6-86F4-CAB899F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4239DC-4B4F-4D46-8763-7187AA3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趨勢折線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413246-4E9B-401A-BC15-CA815DC8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F8ED38-6874-4D91-8F41-4C48F83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4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9B3C94-AA7B-4E12-A35A-360EFCE4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排名長條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3DFC4F-5DE0-43E1-B146-207A5AE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04C6A-0B11-42B2-A2B9-2AFC0C51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DB628-F6B4-4E90-B3B7-F4F9A78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占比圓環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F6A7B-AF52-4666-8472-47C8F78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04F74D-60EB-46CE-85CD-2337400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B4741F-A0E0-4E23-9DDC-13685A7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資料表格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60F6FF-3B06-4284-8C2B-A5A8129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ECE520-2EC4-4CE4-8C0C-FFC4ADA8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14E7CC-410C-4DC1-BDD8-38F1D50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五步驟流程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F9B47D-95B4-42B1-AE5B-81AAF9EA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76A21B-8ECF-4F3B-A741-0F3E0D1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92D6BA-619A-408C-820E-4AC7D42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里程碑時間軸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216DE2-EF80-47C2-A39D-EC5B4D9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A57CF4-AA6F-4599-9825-A65CA733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2496D-3B2C-4A46-8CB1-CE95F03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季度路線圖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151F3A-5B1D-42CB-A28B-51F3ABD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82F473-A2A3-4C07-8B8F-990A8F9F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39D579-E548-4F39-ADC5-6F9992B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4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2×2 決策矩陣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325A1D-52C8-4518-879B-F952B91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2EF6AA-0EF8-4DBE-B80E-04C6B63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9E306E-EE01-4543-A8C8-36D56A7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48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組織架構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F48AF8-BF84-4CD2-83EE-50ADE45B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86B525-4B4C-4239-8B94-C540393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043B2F-EBAB-49F0-92C0-AEF1719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會議議程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2FDDFB-F7F4-49D6-93C3-2A17FC69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695EF7-1967-45E8-98A3-E07F5BF1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48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FD26CD-14B3-4600-81DE-61B27142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48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下一步行動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5CAB90-8016-4B16-844F-B7FE163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34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5080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8CC8D-3520-4A43-B012-397E4B6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8DBCB-B920-419A-B2FF-0EF3A625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698616-BD43-4BA2-8DC0-F83334B4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今天聚焦四個決策問題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55227-F933-4B23-9992-DACFE1F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FA2E3-BE5C-4DC6-AE3E-FA3978A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2127-1878-4D2F-984F-3F4503D4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87297-A453-4223-89BB-9CDC08E6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4F765-D95E-4CDF-843E-C4CBC09F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B5CA1-540B-4A4B-BB69-C4FCB83E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0086F-D834-484A-A593-47F37E4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現況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9F61E-1977-43F6-B91D-1E84813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669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目前最重要的背景與限制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951D2-DBDE-4328-BB2B-4D7C2A0D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81250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DE0FE-8707-4061-AFF2-6AEE6E85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B2162-9973-43B8-835A-FB0624EE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47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洞察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7990E-11A8-4CD2-84EA-C6DD575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670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數據揭示了什麼變化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35992-0517-4A85-AD91-2140AC5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8D7FF-0841-43AE-B9C5-0B6812E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B8FAA-6CB9-4960-9929-0007B06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371F9-0504-4B4F-B2A5-B364401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67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可執行的策略與資源配置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6C4A7-A421-479A-A661-4885C79A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81500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79B42-9B97-44A8-9435-7D53F5B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1F090-429C-4C48-A1FB-348BD83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決策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DB4B4-C605-4155-BCA5-4F8BF88B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672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今天需要確認的下一步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F9A99-B7E7-4F0C-85B2-F2923909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816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1225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8CCED-46F8-4B22-8720-5DD17F37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E75E-107F-431C-BE4F-0E103FF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4FB75-9DE4-4735-AA49-5B8B8483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5E48A-B863-42C8-85C5-7A98B5D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39B9D-0E1F-4CF4-B2AE-10CE8C44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F264C-E764-4AE2-8A0C-3F4B6AE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3D99C-C271-45EE-9298-9FBB306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1B2DE-25A8-4343-A303-B15D3115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65966-C724-4609-8095-32BAFAA3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BC000-ACB5-41C0-BA96-30C93D66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846F-8802-4724-8D44-8F8F20F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58252-DE48-42BA-B056-1CF1F537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1970E-4D52-408F-A02A-8DFF1BD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EB5AA-0881-4006-B26C-602C1B4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62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47D85-C5E8-4C5D-88F4-8F82C0F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478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D3679-72A7-4819-ABFD-854780D7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C781C-8933-4756-802C-92E5FB4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E1D2A-4386-42C8-A878-4EC26C15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863CD-01E1-449F-A394-4061177D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D18E3-744A-4983-AA57-B61ADAF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6F361-2612-44D8-87CD-01E0A4BD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626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E7E2C-2026-4004-9B11-76184FA3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484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445F3-7747-4709-A67F-7AC451C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FBE03-AA2E-4DF5-AB10-333438F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rPr>
              <a:t>SECTION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10E5D-7512-46CB-A0FC-39E3BDB2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把複雜問題拆成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可執行的下一步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D0C70-76BD-4BF7-888B-BFD6FBC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章節開場／大轉折／重要觀點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C4DD2-7364-4085-B511-5BB92BE9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2667000" cy="26670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A40"/>
          </a:solidFill>
          <a:ln xmlns:a="http://schemas.openxmlformats.org/drawingml/2006/main" w="9525">
            <a:solidFill>
              <a:srgbClr val="3154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90080-EB8D-4B0C-9D09-99828B1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D8968-6737-435B-BBBE-8CE7F97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C6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36592-8E68-4D13-8302-CAB41C49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3037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EE965-78F7-409F-8CE0-81CC28F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F214B-3F9C-4DC7-8E78-0C77A3F2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F0891A-CB3F-44B9-AF58-B36B8ED6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三個支柱共同支撐可落地的科技策略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63A14-A36F-4154-ACE2-A25BFCE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A93F9-CE26-4887-AD07-E6C715E7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2A440-10F9-45E3-9EAB-892C683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A2E77-FB06-479D-9EFA-8A92155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1F7FA-461F-4AD7-9D03-BBCF972A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7C03E-F475-4159-B8B6-8268C90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95650" cy="34290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EF472-D41A-4E50-9682-6FE23ED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C4720-4E95-4945-81A7-69A84AD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6B0DD-886F-4D5D-9420-6144F21A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6C49E-610F-469A-8484-1286331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資料基礎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84B99-2F74-4B7B-8F61-C890174B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定義可信資料、權限與更新節奏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7EF36-ECC3-4912-9395-B824241A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1A6BC-BCEC-4053-A032-DA826D5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核心原則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52D5B-DA0D-439E-A6A7-135E5700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295650" cy="34290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92A75-EAB9-49B4-802F-89091A7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6E9E8-EA67-46D7-A5AC-9EC4E195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38DCD-0DDE-4281-A6FD-829FFB5D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0FA80-A6FB-40B4-B700-F43C47FC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流程整合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D137D-EA41-474D-AF05-C5C16693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把新能力嵌入既有工作方式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FFF39-6FC3-4E15-BC58-3715B2E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D2AD0-2512-490B-B127-A9F8FAC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67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核心原則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63984-D626-44CE-99BE-5E32958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3295650" cy="34290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D2194-5E4B-497C-96E1-DF8A256B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CF59C-F37D-4590-BA6C-C6E8EE94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FD457-A8B6-4C78-A71A-7F30C209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DA141-FF1E-4EF9-B397-12E635B6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成效治理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DADB4-250B-41CD-9A87-961653B6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以可驗證指標決定是否擴大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29952-50AF-438C-8340-997B8A2A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0B0A8-7EF7-41E6-BE05-02AEF3C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核心原則</a:t>
            </a:r>
          </a:p>
        </p:txBody>
      </p:sp>
    </p:spTree>
    <p:extLst>
      <p:ext uri="{BB962C8B-B14F-4D97-AF65-F5344CB8AC3E}">
        <p14:creationId xmlns:p14="http://schemas.microsoft.com/office/powerpoint/2010/main" val="1523754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C23E0-52ED-468F-AA53-DB5C981B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9E2CA-0B91-4E6B-8A7B-2DDC0B1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KEY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DC16A-932B-4807-89C4-39A76595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06260-A693-4110-9C0A-C67C8A4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981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1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1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科技感不是裝飾，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41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12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而是讓資訊更快被理解。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26281-E6A9-4A09-A0A0-C846BBDE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AB696-0CD5-4887-A4E0-870C381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用清楚的對比、節奏與結構，支撐每一個決策。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83FD-D239-422E-A88E-E84CA49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096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2C830-DFE5-4C47-9554-9BA4B9C5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63196-D08A-4243-934D-E1AC11F3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CED6A-370F-4854-BE47-A6A1C94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一張主視覺，搭配三個真正需要記住的重點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5B98E-725A-4F38-AF1A-8C321C4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23F1F-424D-45F4-A176-4283C6B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DF9C8-AF5C-4310-B3D1-4E3826B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BF652-2439-4DDC-873A-DA13888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4CFCC-1C63-49AE-AB79-478989F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1C734-A0FD-4682-9D96-6797A73B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18D5C-6D2B-4DB3-9B45-D0DC807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rPr>
              <a:t>PRODUCT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E1F0D-9DF4-4075-BB31-1434D95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343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把功能翻成使用者能感受的價值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B46B7-5E9C-4D3E-9F74-7B9515D8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30E8F-9FE2-44DD-8708-5796DA1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更快理解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AFE3C-6EDA-48F9-8C8C-1AF3769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把核心資訊放在第一視線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29F3F-23DB-4E77-9377-DDF9858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47EE-19B1-45DF-AE85-75161E7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更易比較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0BD18-CE34-4F35-AA2D-BEAD8AA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使用一致維度呈現選擇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8EE79-7ECC-45FD-A85F-A21F7028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73056-8C61-4F3C-B52E-3D2C6331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更好行動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F8DF9-C51D-4B4E-9B72-C83FAC1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62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讓下一步清楚且可執行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2AB2E-7D92-4EEC-9F08-361E1E1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55816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F23C6-F91A-45E8-80E8-BF8AB89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2857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263C"/>
          </a:solidFill>
          <a:ln xmlns:a="http://schemas.openxmlformats.org/drawingml/2006/main" w="9525">
            <a:solidFill>
              <a:srgbClr val="2B4B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09E49-A1E5-4D62-83A6-17343A6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0383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B4B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7F711-C669-40DA-8E96-DEAA4A75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20383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B4B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F5D23-81A8-4FCC-8F0D-C8507FA2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0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C6D4C-5BDA-4260-B2D7-1E1BA9D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4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AB6AE-FA02-4ECC-B0AB-4FBE5FE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4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AF26B-EAED-4CC8-97A0-2699449D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76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7B5B1-F67E-40EB-AF42-15F072F6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813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093510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CF8CD-BD7D-4AEA-9E9C-B7B752FB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B4579-1C96-43EC-B5B1-7B9934B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55626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0F470-5111-4F1E-9483-0D16C21D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50292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54E02-5F0F-4FD1-A3A2-CFBF6F4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44958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7C4A6-D706-4411-837D-5827E16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39624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CF2B2-8789-4761-AE66-45A0C9FE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34290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FAE1E-7A98-42A5-B7F8-B665232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8956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E86DC-D2EC-4A8D-8593-931647D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23622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C88C0-474C-4A94-B098-ADB2C4B2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18288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91E1B-17CC-412F-A45E-845D544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12954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D43A3-6502-4239-9B12-844E76E5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7620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B980-4080-439A-8210-D37277B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2286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36C82-9EC2-4B65-97E7-BF54875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3048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9B02E-70E0-4FD3-AB39-9148B62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8382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7E8F7-A759-4C5C-8DF0-6E8FB290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13716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2A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90FC-0392-4EA4-9DED-F49CFC8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190500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C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DCABF-B192-4E74-8319-6E676DE3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3E2C0-1437-4A68-9F6C-3D8C363B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B6605-0594-4271-924E-5AB9867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0D856-FAE4-4CCD-A6E7-20CA1682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讓每一次決策，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0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都有資料與脈絡支撐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A7811-4A62-48FF-97D5-E7B9307E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7BAC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A7BACB"/>
                </a:solidFill>
                <a:latin typeface="Noto Sans CJK TC"/>
                <a:ea typeface="Noto Sans CJK TC"/>
                <a:cs typeface="Noto Sans CJK TC"/>
              </a:rPr>
              <a:t>滿版情境圖可替換為產品、場域、人物或介面截圖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6DDC1-640D-43C7-95CD-40A19ED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105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D42"/>
          </a:solidFill>
          <a:ln xmlns:a="http://schemas.openxmlformats.org/drawingml/2006/main" w="9525">
            <a:solidFill>
              <a:srgbClr val="2B53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959AF-FA7D-4959-9DD7-8AB2A8B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主視覺建議比例 16:9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FD805-2169-414C-BEE0-0F15DAA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9641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41FAF2-97A4-4B19-8A4C-8706DFC2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A402F-A37D-4366-A450-E53F9B5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F30F47-76C6-4E51-8FD1-2A2712C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比較必須使用相同維度，差異才有決策價值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8A00-7B0E-42A0-B6D5-4030CF38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475E-D683-4542-9EAF-BBBDE60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7090B-5466-488B-A63A-552D884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20E79-C97F-43FB-B703-2EA9EFE9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27993-641C-4D2A-B5C1-F5D3C6DA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78AFE-9F86-42CE-BEF6-973CB36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19700" cy="381000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31100-1EAB-4315-9BDB-71F2E193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E26AF-6AE8-4375-A09E-BF4749F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rPr>
              <a:t>OPTION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88F7B-AF15-4DF0-AE26-EA94535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方案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0D109-EBEC-4BBF-A657-C37B646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0379A-64A6-4CEF-AF86-6174AFE4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04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快速驗證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EC84C-9AF9-4DC9-A68F-FA9C3EC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BE2E2-1B4D-4D4D-BDE0-5DA1291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時程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3619E-9A99-42B1-823A-1875A7B9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338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2–4 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11615-C4BA-4E5D-BCF5-D7E257B4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A2F11-900B-4C4D-A9B6-74EE5A8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導入難度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B604B-C2CB-423E-934E-81B3CFB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0645A-CD88-40AC-BED0-817ABF8A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4BEF8-B9D1-457E-BAC9-D143BF59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適合情境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030B3-D79A-49FD-94AA-554CDF5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006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適合確認需求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BE4E4-2490-4A66-981F-655065DF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219700" cy="381000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E313B-9CE4-4A23-ABD7-219D7AC7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9956D-056C-4041-B300-F64375AF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RECOMMENDED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F1B02-9A2A-4F18-8005-5ED446A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方案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103D2-6D43-49D9-AD02-9DFFA87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rPr>
              <a:t>定位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678FF-43ED-47EF-B4EC-1ABFEA23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04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完整導入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CD467-0010-4532-975B-62E21C9F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70AF3-B5DC-4DD5-9618-2F270264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rPr>
              <a:t>時程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4D6985-A337-460E-AF34-390F6B11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338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8–12 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498AE-55B8-4D25-A323-BDEC0E3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57EC3D-AB63-4A63-8920-5067F40E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rPr>
              <a:t>導入難度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8D053A-01A2-46B3-8142-229C3916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97540E-3BFF-43B9-A572-9ABC908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5033D3-21FF-4C78-8F01-2A2E10C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F96AA"/>
                </a:solidFill>
                <a:latin typeface="Noto Sans CJK TC"/>
                <a:ea typeface="Noto Sans CJK TC"/>
                <a:cs typeface="Noto Sans CJK TC"/>
              </a:rPr>
              <a:t>適合情境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860147-9210-45B5-9F71-C452722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適合跨部門落地</a:t>
            </a:r>
          </a:p>
        </p:txBody>
      </p:sp>
    </p:spTree>
    <p:extLst>
      <p:ext uri="{BB962C8B-B14F-4D97-AF65-F5344CB8AC3E}">
        <p14:creationId xmlns:p14="http://schemas.microsoft.com/office/powerpoint/2010/main" val="161247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48551-615E-415F-8AA1-57D91ED3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CA7C7-0AF3-4801-A139-FA485DC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FBD17B-DEE2-4971-9350-582CF02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功能亮點應回答：它如何改變工作結果？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3295C-B476-4C9D-B1D7-94B2694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66B55-CB6C-4D56-B71F-44C7E3E9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E4F51-298C-4826-9DDC-65F7FBA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F569A-A773-4114-976E-65DDB7E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8E1C1-C0CA-4B0E-8568-10BC30F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FBD34-7808-4623-9EAB-DC6336E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68298-7F22-4690-987F-E614091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96192-5F34-4710-A25E-CB4A89E1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自動化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7C677-1707-4CA5-BED3-D4A98AA7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減少重複操作，把時間留給判斷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6F963-D67E-445A-9D33-CB45AF9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3D9E4-68D3-405D-8567-ABF55520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82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VALUE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6EF3A-A21F-4B5E-8337-0EB7F936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F64CC-5274-4A7A-9702-E9A11E64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A0732-0C6F-4DA0-92EA-E563D556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9033D-3F82-4BA7-99AD-E66352B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整合性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3EF54-95A6-4604-964E-529CE96C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連接既有工具，降低切換成本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2ADB2-227E-4823-8830-30B8AC4B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754F6-ED8A-4167-86AF-470EE8A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825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VALUE 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0FF5-7CEE-469B-B49E-FFA95739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3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8AE63-DEB0-4656-A3C0-ACA35EA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1996A-5CAA-433E-B9FC-743121BA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3E719-1279-431D-9641-B24520C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可治理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4B7A2-9B19-40D5-BF28-B3363901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保留權限、紀錄與回退機制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873A2-84DB-45F3-AC82-6EB1FAD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E42C2-0B98-42E1-A31A-85864A9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82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VALUE 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3D6E9-4508-442E-89D3-14C9C9C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33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561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53989-EB4D-463A-A4F2-C81EBA8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163F-E1E0-48F4-86A1-E22BF154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F21D1-7671-4716-9038-3735B772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只留下會改變判斷的四個關鍵指標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F826-389E-4198-95A0-1853153E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8FCFC-5167-41FB-86DC-70C0CFB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D3FAE-D5C8-4BB7-813E-75D6974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91F2C-98FA-49AC-BAE5-620937FF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31038-0FCF-4820-9F9A-0C6FF4D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69256-9B0D-4C97-AB52-C964028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574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2249-4E2C-4EA0-9592-A1138948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D8EB4-880D-44B7-A00E-9206679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活躍專案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21610-D286-45C4-A925-393717C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48B6B-21A4-46A9-83BF-D244E19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+12%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4D7CA-8CBC-4AE5-98FC-F7C28AB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43100"/>
            <a:ext cx="24574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E702C-7108-43C8-9248-E78C5272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241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41%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0375F-32AA-49DC-BF6C-05E5C98B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48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自動化率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B1F80-F069-454E-8B68-C53275D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814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0092C-11D7-4E01-B937-44C21666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814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+4.2 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9C4D9-6DE2-4F82-86C6-277C4D87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24574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197A8-9E27-4081-8C71-98D86D61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96%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750DE-AF3F-4518-B3B2-EB06249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準時交付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8B6B8-3A20-4DC3-A973-115563E6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4B7B2-FB5B-4265-A8EE-FBB42EC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+1.8 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34F28-EA17-4689-913B-4D9C443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43100"/>
            <a:ext cx="24574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B04CE-D5BA-41B3-A89F-9A34814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241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0.8%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B87EF-3D92-42CE-A624-F0D54F09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48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異常率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54C59-1310-4A04-BF97-A53C7D27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814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D1AE5-E4BE-4EA5-B618-2AB2C669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814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CC7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FFCC72"/>
                </a:solidFill>
                <a:latin typeface="Noto Sans CJK TC"/>
                <a:ea typeface="Noto Sans CJK TC"/>
                <a:cs typeface="Noto Sans CJK TC"/>
              </a:rPr>
              <a:t>−0.3 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FF088-772E-4067-A695-C01222EF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示意數據：請依專案定義指標口徑與比較基準</a:t>
            </a:r>
          </a:p>
        </p:txBody>
      </p:sp>
    </p:spTree>
    <p:extLst>
      <p:ext uri="{BB962C8B-B14F-4D97-AF65-F5344CB8AC3E}">
        <p14:creationId xmlns:p14="http://schemas.microsoft.com/office/powerpoint/2010/main" val="9791812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F96F4-DD3C-4420-BED9-3C0ED906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362B0-3378-47E0-AEE0-669DFEB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70399D-6CE6-4C97-973F-5B33789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趨勢不是數字列表，而是變化的方向與速度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F2616-37F6-450F-B642-8D3EE65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72505-23DF-45C7-8377-CCFA571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2B931-53C6-4481-A1B6-7218ADB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FFF38-5FD7-40E6-B49E-7C1559DC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169F2-F7E9-4BE3-B67E-2C66559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8C2C6-E843-4B78-876C-D24469E2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229600" cy="4019550"/>
          </a:xfrm>
          <a:prstGeom xmlns:a="http://schemas.openxmlformats.org/drawingml/2006/main" prst="roundRect">
            <a:avLst>
              <a:gd name="adj" fmla="val 4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952500" y="2114550"/>
          <a:ext xmlns:a="http://schemas.openxmlformats.org/drawingml/2006/main" cx="767715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02c521686d41f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8CFF1-A5FB-40FA-A15A-38D93F7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286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B0C9C-87FA-4C31-9926-3334993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82%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DC5A3-20E9-45A4-882D-298852B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146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目前採用率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20DA4-A09B-4AE9-936A-D71AEBF5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766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較基準高 18 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274E9-36CF-4352-9BFB-71A79C3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57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結論區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6212D-9322-4E40-99E5-B4410C8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005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在 Q4 後加速，應進一步拆解推動因素。</a:t>
            </a:r>
          </a:p>
        </p:txBody>
      </p:sp>
    </p:spTree>
    <p:extLst>
      <p:ext uri="{BB962C8B-B14F-4D97-AF65-F5344CB8AC3E}">
        <p14:creationId xmlns:p14="http://schemas.microsoft.com/office/powerpoint/2010/main" val="1448286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4ADD2-3B67-48A8-93B5-39A08319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08E36-736B-4227-9EDF-57EAF72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3ED8C9-24BE-4698-B21B-E14C800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先排序，再指出差距最大的決策對象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9A7E8-7CE7-4D4F-9F05-F26272F8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0DE25-51B6-4210-AB37-CDB3976D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B0EEA-0DAF-404A-A4AE-28F3291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2132E-A754-439B-A1BD-6919D31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87CC4-379E-4762-A9F1-686A9BC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1C70-819B-4166-9EE2-E6718DAE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000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066800" y="2133600"/>
          <a:ext xmlns:a="http://schemas.openxmlformats.org/drawingml/2006/main" cx="7334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edb6cabb65406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C1004-A1D8-4C9E-A068-847AA058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0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23A18-4E13-48B6-B116-B4E84D9D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最高貢獻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3909D-47A7-481F-9550-C6DE1A8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D3CD4-8404-46AF-A7C3-A7ECBED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528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核心產品領先第二名 11 點，資源配置應優先守住優勢。</a:t>
            </a:r>
          </a:p>
        </p:txBody>
      </p:sp>
    </p:spTree>
    <p:extLst>
      <p:ext uri="{BB962C8B-B14F-4D97-AF65-F5344CB8AC3E}">
        <p14:creationId xmlns:p14="http://schemas.microsoft.com/office/powerpoint/2010/main" val="17730874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8BD7B-8C15-4393-AB39-3C62A95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B1946-968E-473F-B996-6A73C7E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EE06B7-9B20-4030-BAAF-CB827CB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占比圖只回答一件事：資源主要集中在哪裡？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C17F1-190F-4C66-92A9-E3D0C3C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9D992-7F04-4164-BC78-5EC530F8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C9CBA-D068-4F77-BCD5-75DFFF8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753FD-E0A5-4C0A-BB5E-0854AF9D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0DE67-B09F-4D30-BF66-EF76E39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F9B2-7071-40D9-908E-D8D9F57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0960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1200150" y="2133600"/>
          <a:ext xmlns:a="http://schemas.openxmlformats.org/drawingml/2006/main" cx="5048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5ab46fe5ff4f8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3E8E-D5FE-4450-8F69-714327D0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52%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5CBA1-4125-4226-96BD-424E23A9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核心產品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34113-2177-4FB2-9639-20558A98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4229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ACF82-2B03-4EB5-B26D-0DF81E08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6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32F20-0E64-4AFC-8A98-3AB535AC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145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核心產品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5A1DE-CF8A-46E7-931D-09167C22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145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52%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724B8-96BB-480F-8D90-57C5827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57500"/>
            <a:ext cx="4229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E6FF7-E445-4962-B875-0B3E3199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0BBF7-04E1-48EC-90BA-63A75AE0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企業服務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69D48-CFEE-4BE0-9AFD-D99B16E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003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24%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2BCFF-317E-4521-A9CD-E46CB7A2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4229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BDE59-EC79-4264-A40F-83474F9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FB462-3763-4CA9-A850-01984FD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861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夥伴通路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48070-0C50-4531-BAE7-50F33C03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861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16%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31217-A7F7-4231-91FC-BCD54E1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29100"/>
            <a:ext cx="4229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8D9FA-11A1-4237-A99B-2F70AE6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A6236-1F12-479A-9D1E-5C366F88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71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其他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A6CC9-2AC4-4447-B653-C7FDD01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71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8%</a:t>
            </a:r>
          </a:p>
        </p:txBody>
      </p:sp>
    </p:spTree>
    <p:extLst>
      <p:ext uri="{BB962C8B-B14F-4D97-AF65-F5344CB8AC3E}">
        <p14:creationId xmlns:p14="http://schemas.microsoft.com/office/powerpoint/2010/main" val="7597801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261B-12BA-4734-B7F5-7175D13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E47A2-C41F-4423-ACAC-40C2BBF4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72CE51-32B4-4C4F-BF6F-0CFDC50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表格只保留能支持比較與決策的欄位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6806-34C6-450E-BEF3-9683E5F1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61A47-0411-4053-959C-9B81E212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A3FF1-EC7A-49FA-9C37-753F888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9669-4D04-4598-A7A1-585C05C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85C7-0D95-4920-A9C1-B7314E2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方案</a:t>
                      </a:r>
                    </a:p>
                  </a:txBody>
                  <a:tcPr marL="91440" marR="91440" marT="45720" marB="45720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適用情境</a:t>
                      </a:r>
                    </a:p>
                  </a:txBody>
                  <a:tcPr marL="91440" marR="91440" marT="45720" marB="45720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導入難度</a:t>
                      </a:r>
                    </a:p>
                  </a:txBody>
                  <a:tcPr marL="91440" marR="91440" marT="45720" marB="45720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預期效益</a:t>
                      </a:r>
                    </a:p>
                  </a:txBody>
                  <a:tcPr marL="91440" marR="91440" marT="45720" marB="45720">
                    <a:solidFill>
                      <a:srgbClr val="07111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快速驗證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單一流程／小團隊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2–4 週看到訊號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部門導入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跨系統整合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提升效率與一致性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企業擴展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跨部門治理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建立規模化能力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持續優化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已有穩定流程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3223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逐季改善成效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EF10C-63EE-4D4E-9FED-36215DD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46611-00DF-4C98-BCBA-3BEA9400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0A7380"/>
                </a:solidFill>
                <a:latin typeface="Noto Sans CJK TC"/>
                <a:ea typeface="Noto Sans CJK TC"/>
                <a:cs typeface="Noto Sans CJK TC"/>
              </a:rPr>
              <a:t>讀法：先選擇適用情境，再比較投入程度與預期效益。</a:t>
            </a:r>
          </a:p>
        </p:txBody>
      </p:sp>
    </p:spTree>
    <p:extLst>
      <p:ext uri="{BB962C8B-B14F-4D97-AF65-F5344CB8AC3E}">
        <p14:creationId xmlns:p14="http://schemas.microsoft.com/office/powerpoint/2010/main" val="573743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523FA-6D92-459E-AD6C-B0BAA68B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FB44C-2257-48E9-BC8E-57ED8AD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DBE746-36DC-4657-8E1A-5C61504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五個步驟，把構想推進到可驗證成果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A9444-E5E7-4B06-891A-A0FCE64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4C088-56B6-4BCF-9A66-B724DB2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F1EB4-8DC5-4D69-A578-05E07338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C0E4-DBDC-4861-A930-DBEECA5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57484-7BA1-4163-A4FA-89AC717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BCEE9-FA58-4A43-B8C9-B2A93C8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CE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EBC6-ED27-4856-9366-0728C999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4D5AC-E480-4A99-9135-0FDD4C92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41594-4AF5-4CBC-AE22-3122BB2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F0043-6A5C-4E60-B165-CD8D8F3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定義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8AF93-656E-48AD-86B4-360369E6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釐清問題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7CBF8-96CB-4125-8BFC-7C8604A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87985-1FF6-4CEB-A80A-C482ABDA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E9A12-DDE4-4D90-A032-488D985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2AD81-BAC6-4799-9DA6-5EBEA4A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盤點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3A289-E4C4-492F-81D3-8F7875B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確認資料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35AA0-8A4F-47B8-B0C2-E9EBA9E3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51365-EE69-4893-BAC0-6B671B3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67568-ED4E-47F7-A039-10935B0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4993F-E3B9-4F29-883A-692AA00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試作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3DD04-689F-4DAA-AD0D-69B0C5B6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建立原型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6B661-08B1-4EA7-A070-EEF59343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B6CFEB-9C73-468A-9FE1-F8529AB3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E52F6-FFC9-4EE8-96B2-55F78E1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CEEDC-031A-4A9A-BD75-92CF399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52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驗證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2262A-4002-48CC-89BE-27C0375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比較成效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B19E4-E55A-4245-A6F4-A234956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D7F12-3155-477D-B663-5B90F82D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C6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31D23-5FE4-40AA-9F60-DC172B5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7CAA4-3C5F-4D07-89C9-89482EC6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52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擴展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E439B-2F4B-4D8C-8064-0D6423B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制度化運作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A253EB-8185-4A1E-89C0-3EDCF238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64A2F-9E70-4C7D-846D-0612A5B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10248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每一步都要有輸入、輸出與通過條件</a:t>
            </a:r>
          </a:p>
        </p:txBody>
      </p:sp>
    </p:spTree>
    <p:extLst>
      <p:ext uri="{BB962C8B-B14F-4D97-AF65-F5344CB8AC3E}">
        <p14:creationId xmlns:p14="http://schemas.microsoft.com/office/powerpoint/2010/main" val="3927841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3E1147-7474-45DB-BE24-71A027A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3C896-1B96-4F44-B596-CF31947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328EC-2D32-475D-A499-67D18FA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里程碑用事件與成果說明進度，不只標日期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F6ADD-2796-4960-BE83-9CF6C13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24457-1CB4-4BEB-825D-7DEC85E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9A4AC-30F8-4327-85FF-9EA05921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2175F-58FC-4D6B-9898-A942FC9D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7AB72-6B62-4B51-B637-F826F62A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5EAE8-C3F8-4B98-A750-A335E851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CE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2D30-6CDB-45DC-94FB-5B9B165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66769-41D4-43E9-9EFF-F9598D9B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08EC5-528D-424F-B66E-B89866D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09/01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84635-237F-4D7A-99B9-88D2835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專案啟動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6168-7AB7-4E6A-A0EB-ED45BB1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確認範圍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896E6-4223-481C-BE1B-3A1A7ADD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CC243-2EEB-428C-BC8A-B12E2B0E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17618-15A8-45A7-A726-210B5E6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09/15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CFFD6-2A1E-49F8-BEE7-783D54A7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資料就緒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C97DC-AA0E-435A-B567-4E8DC68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721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完成清理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1B003-52EE-4F34-972B-19DA350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382F5-88EA-4340-8D6D-88130332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6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EE9DD-EBA9-4888-A787-E038117E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10/10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51734-D88F-422F-A5E7-52920F7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原型完成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11988-27CA-4F79-B875-3DBE4DF6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進入測試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62F45-D5C9-4AD1-9B26-93A8F95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059E2-C7DC-4682-AFC0-9C9F22FC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814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E4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740D7-1B09-4AFF-8268-7A4A82E0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05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11/01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D646B-40CC-478E-A0BD-ED8F7A6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292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試點驗證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6015D-AF8C-4FE8-9F71-54E1E60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721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決定擴大</a:t>
            </a:r>
          </a:p>
        </p:txBody>
      </p:sp>
    </p:spTree>
    <p:extLst>
      <p:ext uri="{BB962C8B-B14F-4D97-AF65-F5344CB8AC3E}">
        <p14:creationId xmlns:p14="http://schemas.microsoft.com/office/powerpoint/2010/main" val="19031827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A9DBBD-D385-4DF6-AD09-93A17C75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A342A-D828-4A55-8F71-EF4BF720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BEA538-BEBF-44C5-AEC0-0D14040C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路線圖要同時看見節奏、重疊與責任邊界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2BD58-3DEA-4DBB-AB80-6AB3401C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CB970-2760-4318-8FEC-C678C65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E2C75-7067-489D-B871-A2BEE09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04749-002C-41E9-8C43-EEE7012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F35D-1E54-42A7-AEDA-154135A7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6F93A-BE4D-42D9-A328-7F183485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CCA7C-632A-4852-93A4-FDFC2A2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28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EFCFE-06A6-4AAB-86DE-934D60F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28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Q3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9176-AC0F-4803-A337-B4CE442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5B3FD-CB8D-40F3-BEF1-ECCC7384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47A41-4516-45F4-8633-A87665D2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EB329-F54A-40EA-BA7D-FA32C9A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4FBDF-2BD8-49B8-952E-CDC3990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6AA89-C854-44C6-B00B-B0C9CFB8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EB5FA-486A-4142-914C-BF7C5DBF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核心平台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ADFBC-6CB4-40C4-A179-8E68FAD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1600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95948-E88B-4B6B-8E99-515E2514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資料治理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18A0D-3DE7-4CE2-9383-2060D0F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18859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AA92C-D052-4164-A6B5-7F517FF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試點驗證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7B26A-1BA3-4396-A5B3-B635975F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48100"/>
            <a:ext cx="18859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C2804-BF2D-4CED-A445-C6D523B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規模化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FECEF-C672-4F68-8725-2BD9D95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91050"/>
            <a:ext cx="28289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C13A7-2EFB-4DAE-9C56-2CE73E4D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示意：同一條線代表一個工作流，區塊長度代表執行期間。</a:t>
            </a:r>
          </a:p>
        </p:txBody>
      </p:sp>
    </p:spTree>
    <p:extLst>
      <p:ext uri="{BB962C8B-B14F-4D97-AF65-F5344CB8AC3E}">
        <p14:creationId xmlns:p14="http://schemas.microsoft.com/office/powerpoint/2010/main" val="8054020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1B6DB1-DDB8-4145-9422-7206B10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5CEE-D016-4225-9C10-0FB8AA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556A4-771F-4595-A8AB-A016F3FD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用兩個清楚維度，把選項分成優先順序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D53B2-E277-4CCD-9F99-23CB7FBB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C978C-BF16-4989-B279-52C4DEC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D6544-6A5E-4826-8755-E7ED796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0DA9-1B2F-484D-8502-5714A9E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921B2-7899-4D48-9936-016AD5C9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A64F5-537E-4430-9105-893EFFA8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62150"/>
            <a:ext cx="3238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76AC2-77C4-4450-A059-6362F61B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3238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6D88F-4110-4FDC-BE35-1B0010C4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3238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3C379-C2D1-43D0-86DF-2FF09E11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3238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8DC2F-384C-47B1-89B2-57EFAB4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5D8DC-5702-4A01-9F9E-7266CBA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DF31C-369D-45D0-9298-09F333A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33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A7A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1A7A65"/>
                </a:solidFill>
                <a:latin typeface="Noto Sans CJK TC"/>
                <a:ea typeface="Noto Sans CJK TC"/>
                <a:cs typeface="Noto Sans CJK TC"/>
              </a:rPr>
              <a:t>高價值／低難度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01C94-E22C-4F21-B469-EF7FF154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9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87989"/>
                </a:solidFill>
                <a:latin typeface="Noto Sans CJK TC"/>
                <a:ea typeface="Noto Sans CJK TC"/>
                <a:cs typeface="Noto Sans CJK TC"/>
              </a:rPr>
              <a:t>策略優先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650D2-08BF-41B9-B606-9F76DF17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觀察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1DA0D-CB8F-40BA-AAD0-1BE9CC40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4ED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D4ED1"/>
                </a:solidFill>
                <a:latin typeface="Noto Sans CJK TC"/>
                <a:ea typeface="Noto Sans CJK TC"/>
                <a:cs typeface="Noto Sans CJK TC"/>
              </a:rPr>
              <a:t>分階段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1CD89-C576-4FA3-8D1E-994B6CA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9175D-08DD-428D-AFBC-BDA09E4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7EE39-EC8F-4A05-A460-A266A82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7B491-8D38-4DC7-8B0A-2CC9E29E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DBF48-7222-4C0F-B9F3-10C12BCD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38B2A-249D-471A-A1C8-628883E2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00E52-C332-495B-AD53-88C9CE67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FD60E-FCDE-43A5-9F7B-D1F91DE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6C494-C873-4AA3-AD74-F4FD7176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5DE6E-7471-4852-8C40-09A3268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B35DE-1EDE-4A9F-B5F4-8D5AE10A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影響力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C0725-E74B-4534-B4CD-7314AD4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C6CFF"/>
                </a:solidFill>
                <a:latin typeface="Noto Sans CJK TC"/>
                <a:ea typeface="Noto Sans CJK TC"/>
                <a:cs typeface="Noto Sans CJK TC"/>
              </a:rPr>
              <a:t>執行難度 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720F0-8BFA-4DFC-8495-AB05FB99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A–E 為待評估選項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維度可依決策情境替換</a:t>
            </a:r>
          </a:p>
        </p:txBody>
      </p:sp>
    </p:spTree>
    <p:extLst>
      <p:ext uri="{BB962C8B-B14F-4D97-AF65-F5344CB8AC3E}">
        <p14:creationId xmlns:p14="http://schemas.microsoft.com/office/powerpoint/2010/main" val="3713683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326C6-CACA-438A-917B-B389887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2EB7-1FA3-4441-8339-DC05F1C9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0A6D3-704C-4ABB-B047-CA68712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組織圖先呈現責任，再呈現層級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320D5-C181-4F9D-873B-F796672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0E54A-66A9-4B8D-BE45-A86FCD6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30DC1-5105-45F1-939F-2E1CBFD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5ADA8-CF10-4BDC-84AB-CCC347A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54F9E-F156-4BCA-9C1E-74AD1F2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DD740-FD17-492D-8932-21A786A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B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5BBD7-49FA-47C2-97BB-0ACDDDBC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689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B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770D2-CF24-46A2-81D4-D7F99E83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B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4AC56-A410-400D-ADF1-C28CD13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B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677D4-B7DA-49CE-B362-DB99752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147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B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B2834-6C56-461E-B4E5-4BEA1043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8956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1836A-79AE-4D62-8294-688FF50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955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專案治理委員會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BB66C-C958-4A08-A5CA-00D2B6D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方向／資源／風險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1B2EA-CD69-4077-A6CE-68DE89D5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2857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B5473-3B46-4468-B34F-A6FEC9F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8697D-30B4-4818-90E9-4360BD8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291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產品與需求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282CE-2740-4458-8B7B-F98010DA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定義價值與優先序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F6CD7-626E-4E7D-8345-682BD8E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81450"/>
            <a:ext cx="2857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8F214-75B7-4D71-80F2-05152E57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81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5167F-658C-44FB-B411-1DE6F5B1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技術與資料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A9025-2127-478B-BB7C-6FFF41E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確保品質與可行性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54DD7-5A16-470E-ABA0-4AE26727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857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44AA7-CA64-41BD-AA26-854603F2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F2EB9-9061-49E3-966C-47B6D1F3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營運與推廣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58933-0CC6-416E-A8FA-CF19864E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建立採用與回饋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1A777-4ABA-41D1-8FE4-DC2DC3C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角色名稱可改為部門、工作流、平台或合作夥伴</a:t>
            </a:r>
          </a:p>
        </p:txBody>
      </p:sp>
    </p:spTree>
    <p:extLst>
      <p:ext uri="{BB962C8B-B14F-4D97-AF65-F5344CB8AC3E}">
        <p14:creationId xmlns:p14="http://schemas.microsoft.com/office/powerpoint/2010/main" val="5128961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04718-C1EF-4C31-B7F5-9F2B511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CAF6D-5B0D-4E23-8155-936B119E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TECH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C9F7B0-E19B-46F1-AD12-DC0BBA8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會議頁把時間、議題與預期產出放在同一視線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01167-E756-43F3-AF15-F58B387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0C0C-3F86-4E41-8D6A-EEF0E96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62067-E8AC-458D-B43D-976684D1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TECHNOLOGY CORPORATE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E3235-1F09-415C-A85B-61538D02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1513C-E050-4EF0-9174-759E7D66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91A0B0"/>
                </a:solidFill>
                <a:latin typeface="Noto Sans CJK TC"/>
                <a:ea typeface="Noto Sans CJK TC"/>
                <a:cs typeface="Noto Sans CJK TC"/>
              </a:rPr>
              <a:t>SAMPLE CONTENT · 可直接複製改寫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B7EE6-88CF-4A95-9BE2-1B7ADFF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1EDCE-657B-4A40-96E5-7D53FC1E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09:00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6E70A-B334-4026-ACF7-658D314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1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背景同步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C8143-25E7-474D-9A22-CD57D7A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確認共同脈絡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F4401-263B-40CE-B6E1-EACB690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193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6CAAC-564B-4789-B75A-63900BEC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193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10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AF374-9E91-41F7-9E85-D02DD3B6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53505-8AEA-4E0F-B4FB-0E6F4A0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09:10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106A1-2C03-42D2-8A86-FB8243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95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核心討論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568BB-35BA-4373-B02E-59B4424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評估方案與限制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BF884-AFB4-4A17-A7E3-554E2345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B8B4E-7E21-467D-98AF-01129C5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35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BBA9E-775A-4519-BD31-16EC40AE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7A476-EAFF-46CA-B159-E09B13A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09:45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8AEC3-FA9F-4253-AE5F-128B12E6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決策確認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72A22-9702-4CAF-A5AB-44676B4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90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選擇方向與負責人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24D4-82D9-4A65-B571-9D96952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719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2BA73-384C-4563-B74F-DEADA2F0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71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10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3CDDC-5011-4BE5-BEDE-647BCF4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4B334-0AB1-4408-8E99-498E5CB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E8CFF"/>
                </a:solidFill>
                <a:latin typeface="Noto Sans CJK TC"/>
                <a:ea typeface="Noto Sans CJK TC"/>
                <a:cs typeface="Noto Sans CJK TC"/>
              </a:rPr>
              <a:t>09:55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F82BB-962F-4530-959F-91F647D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48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132238"/>
                </a:solidFill>
                <a:latin typeface="Noto Sans CJK TC"/>
                <a:ea typeface="Noto Sans CJK TC"/>
                <a:cs typeface="Noto Sans CJK TC"/>
              </a:rPr>
              <a:t>下一步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9B619-3194-4ED4-82F6-AAC52B9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鎖定時程與交付物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810B2-1C80-4266-8E00-386517A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D98FA-E89F-4703-BC7E-BC27CD6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70849A"/>
                </a:solidFill>
                <a:latin typeface="Noto Sans CJK TC"/>
                <a:ea typeface="Noto Sans CJK TC"/>
                <a:cs typeface="Noto Sans CJK TC"/>
              </a:rPr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6669476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8F104-03EC-444E-8E7C-A59218DB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3B7E0-610C-41B9-9245-3430D56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8DA50-148A-41AC-8117-53C5A4F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96787-3169-43EE-8D8D-D99E4CD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7EEE1-D93D-4ED1-AFA8-82BE76B6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0B753-69B6-42A8-9A2C-F1EF0CB6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34404-435F-486E-A6E9-D0BF8A6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8A92C-BEAE-4C2B-9918-425D4945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14841-39F5-4095-98E5-D23A91BF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EE37-781B-415D-A046-98553B6B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2E1DD-2F09-4EEE-9669-9D592726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BA793-573E-4DC2-9087-CF583E74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1BECF-7FD0-4205-AF73-D35FC46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30DDF2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F6A5B-889F-4E51-9F35-BF4A374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rPr>
              <a:t>NEXT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2F42C-2D54-464C-9153-480C49F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把下一步縮成一個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>
                <a:solidFill>
                  <a:srgbClr val="F7FAFC"/>
                </a:solidFill>
                <a:latin typeface="Noto Sans CJK TC"/>
                <a:ea typeface="Noto Sans CJK TC"/>
                <a:cs typeface="Noto Sans CJK TC"/>
              </a:rPr>
              <a:t>清楚、可執行的行動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C01EC-11BB-410D-B57D-67B8A2A2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FC1D3"/>
                </a:solidFill>
                <a:latin typeface="Noto Sans CJK TC"/>
                <a:ea typeface="Noto Sans CJK TC"/>
                <a:cs typeface="Noto Sans CJK TC"/>
              </a:rPr>
              <a:t>確認負責人、完成日期與成功條件，讓簡報真正推動進度。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84E57-815C-4F1B-B95E-98D35D7B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000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0D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E8FC9-B1EE-4E9D-8AEE-9EF4334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7111F"/>
                </a:solidFill>
                <a:latin typeface="Noto Sans CJK TC"/>
                <a:ea typeface="Noto Sans CJK TC"/>
                <a:cs typeface="Noto Sans CJK TC"/>
              </a:rPr>
              <a:t>安排下一次決策會議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78C7F-DB74-4F03-A24A-08ADD48B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781300" cy="2781300"/>
          </a:xfrm>
          <a:prstGeom xmlns:a="http://schemas.openxmlformats.org/drawingml/2006/main" prst="roundRect">
            <a:avLst>
              <a:gd name="adj" fmla="val 11644"/>
            </a:avLst>
          </a:prstGeom>
          <a:solidFill xmlns:a="http://schemas.openxmlformats.org/drawingml/2006/main">
            <a:srgbClr val="102A40"/>
          </a:solidFill>
          <a:ln xmlns:a="http://schemas.openxmlformats.org/drawingml/2006/main" w="9525">
            <a:solidFill>
              <a:srgbClr val="3154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E38D8-033B-4B25-80AF-2D24758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079FB-70DD-4AF4-BDDF-D8DCA47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62EFC-289A-4A51-94FC-C24E815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0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1C175-E539-4327-9F65-04632EA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99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E4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45502-F8D5-4CA6-B9FC-B9A4D73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73E4BE"/>
                </a:solidFill>
                <a:latin typeface="Noto Sans CJK TC"/>
                <a:ea typeface="Noto Sans CJK TC"/>
                <a:cs typeface="Noto Sans CJK TC"/>
              </a:rPr>
              <a:t>CONTACT / URL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3D68A-D947-4AA9-9463-DF079843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1">
                <a:solidFill>
                  <a:srgbClr val="70859A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07053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2026-08-24T14:20:30.7620000Z</dcterms:created>
  <dcterms:modified xsi:type="dcterms:W3CDTF">2026-08-24T14:20:30.7620000Z</dcterms:modified>
</coreProperties>
</file>